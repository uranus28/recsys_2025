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1" r:id="rId6"/>
    <p:sldId id="260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72" r:id="rId18"/>
    <p:sldId id="289" r:id="rId19"/>
    <p:sldId id="290" r:id="rId20"/>
    <p:sldId id="291" r:id="rId21"/>
    <p:sldId id="278" r:id="rId2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81" autoAdjust="0"/>
    <p:restoredTop sz="94660"/>
  </p:normalViewPr>
  <p:slideViewPr>
    <p:cSldViewPr snapToGrid="0">
      <p:cViewPr>
        <p:scale>
          <a:sx n="50" d="100"/>
          <a:sy n="50" d="100"/>
        </p:scale>
        <p:origin x="1949" y="7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7E2A46-F122-467A-B4FD-BBDE863372C9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AC426C-EF92-4F0B-834A-554B4B5570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0105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14095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70525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692055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626109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49004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76597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339515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393063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442368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409090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39461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251402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365384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648211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694143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04114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099791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631267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311190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81132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5EF80-E16C-42F6-96E5-D6397806ED0B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B73E-407B-457D-9946-DA4E44623A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6782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5EF80-E16C-42F6-96E5-D6397806ED0B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B73E-407B-457D-9946-DA4E44623A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120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5EF80-E16C-42F6-96E5-D6397806ED0B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B73E-407B-457D-9946-DA4E44623A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1810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5EF80-E16C-42F6-96E5-D6397806ED0B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B73E-407B-457D-9946-DA4E44623A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5361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5EF80-E16C-42F6-96E5-D6397806ED0B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B73E-407B-457D-9946-DA4E44623A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1555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5EF80-E16C-42F6-96E5-D6397806ED0B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B73E-407B-457D-9946-DA4E44623A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0767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5EF80-E16C-42F6-96E5-D6397806ED0B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B73E-407B-457D-9946-DA4E44623A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8292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5EF80-E16C-42F6-96E5-D6397806ED0B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B73E-407B-457D-9946-DA4E44623A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8552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5EF80-E16C-42F6-96E5-D6397806ED0B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B73E-407B-457D-9946-DA4E44623A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2062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5EF80-E16C-42F6-96E5-D6397806ED0B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B73E-407B-457D-9946-DA4E44623A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0539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5EF80-E16C-42F6-96E5-D6397806ED0B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9DB73E-407B-457D-9946-DA4E44623A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1258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25EF80-E16C-42F6-96E5-D6397806ED0B}" type="datetimeFigureOut">
              <a:rPr lang="ru-RU" smtClean="0"/>
              <a:t>09.11.2025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DB73E-407B-457D-9946-DA4E44623A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3258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912658" y="2431875"/>
            <a:ext cx="8315880" cy="609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ru-RU" sz="3200" b="1" u="sng" dirty="0" smtClean="0">
                <a:latin typeface="Calibri"/>
                <a:ea typeface="Calibri"/>
                <a:cs typeface="Calibri"/>
                <a:sym typeface="Calibri"/>
              </a:rPr>
              <a:t>Финальный проект </a:t>
            </a:r>
            <a:r>
              <a:rPr lang="ru-RU" sz="3200" b="1" u="sng" dirty="0">
                <a:latin typeface="Calibri"/>
                <a:ea typeface="Calibri"/>
                <a:cs typeface="Calibri"/>
                <a:sym typeface="Calibri"/>
              </a:rPr>
              <a:t>р</a:t>
            </a:r>
            <a:r>
              <a:rPr lang="ru-RU" sz="3200" b="1" u="sng" dirty="0" smtClean="0">
                <a:latin typeface="Calibri"/>
                <a:ea typeface="Calibri"/>
                <a:cs typeface="Calibri"/>
                <a:sym typeface="Calibri"/>
              </a:rPr>
              <a:t>екомендательная система: </a:t>
            </a:r>
            <a:endParaRPr sz="3200" u="sng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398610" y="5774146"/>
            <a:ext cx="9162371" cy="1689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ru-RU" sz="2200" dirty="0"/>
              <a:t>Исполнитель: студент группы   </a:t>
            </a:r>
            <a:r>
              <a:rPr lang="ru-RU" sz="2200" dirty="0" smtClean="0"/>
              <a:t>ПМИ </a:t>
            </a:r>
            <a:r>
              <a:rPr lang="ru-RU" sz="2200" dirty="0"/>
              <a:t>2</a:t>
            </a:r>
            <a:r>
              <a:rPr lang="ru-RU" sz="2200" dirty="0" smtClean="0"/>
              <a:t> </a:t>
            </a:r>
            <a:r>
              <a:rPr lang="ru-RU" sz="2200" dirty="0"/>
              <a:t>курса </a:t>
            </a:r>
            <a:r>
              <a:rPr lang="ru-RU" sz="2200" dirty="0" smtClean="0"/>
              <a:t>физико-математического института  </a:t>
            </a:r>
            <a:r>
              <a:rPr lang="ru-RU" sz="2200" dirty="0"/>
              <a:t>Санников Юрий </a:t>
            </a:r>
            <a:r>
              <a:rPr lang="ru-RU" sz="2200" dirty="0" smtClean="0"/>
              <a:t>Владиславович</a:t>
            </a:r>
            <a:endParaRPr dirty="0"/>
          </a:p>
        </p:txBody>
      </p:sp>
      <p:sp>
        <p:nvSpPr>
          <p:cNvPr id="11" name="Google Shape;89;p1"/>
          <p:cNvSpPr/>
          <p:nvPr/>
        </p:nvSpPr>
        <p:spPr>
          <a:xfrm>
            <a:off x="9765792" y="6249618"/>
            <a:ext cx="193151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Пермь </a:t>
            </a:r>
            <a:r>
              <a:rPr lang="ru-RU" sz="1800" b="0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2025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07108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66750" y="384178"/>
            <a:ext cx="14401800" cy="933450"/>
          </a:xfrm>
          <a:prstGeom prst="rect">
            <a:avLst/>
          </a:prstGeom>
        </p:spPr>
      </p:pic>
      <p:sp>
        <p:nvSpPr>
          <p:cNvPr id="94" name="Google Shape;94;p2"/>
          <p:cNvSpPr txBox="1">
            <a:spLocks noGrp="1"/>
          </p:cNvSpPr>
          <p:nvPr>
            <p:ph type="title"/>
          </p:nvPr>
        </p:nvSpPr>
        <p:spPr>
          <a:xfrm>
            <a:off x="787401" y="1619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Цель</a:t>
            </a:r>
            <a:endParaRPr b="1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 txBox="1">
            <a:spLocks noGrp="1"/>
          </p:cNvSpPr>
          <p:nvPr>
            <p:ph type="body" idx="1"/>
          </p:nvPr>
        </p:nvSpPr>
        <p:spPr>
          <a:xfrm>
            <a:off x="838200" y="1317627"/>
            <a:ext cx="10515600" cy="4265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259080" algn="just">
              <a:spcBef>
                <a:spcPts val="0"/>
              </a:spcBef>
              <a:buSzPct val="100000"/>
            </a:pPr>
            <a:r>
              <a:rPr lang="ru-RU" sz="4800" i="1" dirty="0"/>
              <a:t>Цель </a:t>
            </a:r>
            <a:r>
              <a:rPr lang="ru-RU" sz="4800" i="1" dirty="0" smtClean="0"/>
              <a:t>финального проекта:</a:t>
            </a:r>
            <a:r>
              <a:rPr lang="ru-RU" sz="4800" dirty="0" smtClean="0"/>
              <a:t> получить лучший результат рекомендаций для метрики </a:t>
            </a:r>
            <a:r>
              <a:rPr lang="en-US" sz="4800" dirty="0" err="1" smtClean="0"/>
              <a:t>mapK</a:t>
            </a:r>
            <a:r>
              <a:rPr lang="en-US" sz="4800" dirty="0" smtClean="0"/>
              <a:t> </a:t>
            </a:r>
            <a:endParaRPr lang="ru-RU" sz="43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6413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</p:txBody>
      </p:sp>
      <p:sp>
        <p:nvSpPr>
          <p:cNvPr id="96" name="Google Shape;96;p2"/>
          <p:cNvSpPr txBox="1"/>
          <p:nvPr/>
        </p:nvSpPr>
        <p:spPr>
          <a:xfrm>
            <a:off x="474655" y="6268720"/>
            <a:ext cx="62549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2/21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77435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66750" y="384178"/>
            <a:ext cx="14401800" cy="933450"/>
          </a:xfrm>
          <a:prstGeom prst="rect">
            <a:avLst/>
          </a:prstGeom>
        </p:spPr>
      </p:pic>
      <p:sp>
        <p:nvSpPr>
          <p:cNvPr id="9" name="Google Shape;101;p3"/>
          <p:cNvSpPr txBox="1">
            <a:spLocks noGrp="1"/>
          </p:cNvSpPr>
          <p:nvPr>
            <p:ph type="title"/>
          </p:nvPr>
        </p:nvSpPr>
        <p:spPr>
          <a:xfrm>
            <a:off x="787401" y="1619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Задачи</a:t>
            </a:r>
            <a:endParaRPr b="1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2;p3"/>
          <p:cNvSpPr txBox="1">
            <a:spLocks/>
          </p:cNvSpPr>
          <p:nvPr/>
        </p:nvSpPr>
        <p:spPr>
          <a:xfrm>
            <a:off x="838200" y="1317628"/>
            <a:ext cx="10515600" cy="477227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>
              <a:lnSpc>
                <a:spcPct val="100000"/>
              </a:lnSpc>
              <a:spcBef>
                <a:spcPts val="0"/>
              </a:spcBef>
              <a:buSzPts val="2800"/>
            </a:pPr>
            <a:r>
              <a:rPr lang="ru-RU" sz="3200" dirty="0" smtClean="0"/>
              <a:t>Анализ данных</a:t>
            </a:r>
            <a:endParaRPr lang="ru-RU" sz="3200" dirty="0"/>
          </a:p>
          <a:p>
            <a:pPr lvl="1" algn="just">
              <a:lnSpc>
                <a:spcPct val="100000"/>
              </a:lnSpc>
              <a:spcBef>
                <a:spcPts val="0"/>
              </a:spcBef>
              <a:buSzPts val="2800"/>
            </a:pPr>
            <a:r>
              <a:rPr lang="ru-RU" sz="3200" dirty="0" smtClean="0"/>
              <a:t>Выбор моделей рекомендаций</a:t>
            </a:r>
            <a:endParaRPr lang="ru-RU" sz="3200" dirty="0"/>
          </a:p>
          <a:p>
            <a:pPr lvl="1" algn="just">
              <a:lnSpc>
                <a:spcPct val="100000"/>
              </a:lnSpc>
              <a:spcBef>
                <a:spcPts val="0"/>
              </a:spcBef>
              <a:buSzPts val="2800"/>
            </a:pPr>
            <a:r>
              <a:rPr lang="ru-RU" sz="3200" dirty="0" smtClean="0"/>
              <a:t>Обучение</a:t>
            </a:r>
            <a:endParaRPr lang="ru-RU" sz="3200" dirty="0"/>
          </a:p>
          <a:p>
            <a:pPr lvl="1" algn="just">
              <a:lnSpc>
                <a:spcPct val="100000"/>
              </a:lnSpc>
              <a:spcBef>
                <a:spcPts val="0"/>
              </a:spcBef>
              <a:buSzPts val="2800"/>
            </a:pPr>
            <a:r>
              <a:rPr lang="ru-RU" sz="3200" dirty="0" smtClean="0"/>
              <a:t>Показ рекомендаций для пользователя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  <a:buSzPts val="2800"/>
            </a:pPr>
            <a:r>
              <a:rPr lang="ru-RU" sz="3200" dirty="0" smtClean="0"/>
              <a:t>Метрики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  <a:buSzPts val="2800"/>
            </a:pPr>
            <a:r>
              <a:rPr lang="ru-RU" sz="3200" dirty="0" smtClean="0"/>
              <a:t>Анализ результатов и пути улучшения</a:t>
            </a:r>
            <a:endParaRPr lang="ru-RU" sz="3200" dirty="0"/>
          </a:p>
        </p:txBody>
      </p:sp>
      <p:sp>
        <p:nvSpPr>
          <p:cNvPr id="11" name="Google Shape;240;p17"/>
          <p:cNvSpPr txBox="1"/>
          <p:nvPr/>
        </p:nvSpPr>
        <p:spPr>
          <a:xfrm>
            <a:off x="474655" y="6268720"/>
            <a:ext cx="105239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3/21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91610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66750" y="384178"/>
            <a:ext cx="14401800" cy="933450"/>
          </a:xfrm>
          <a:prstGeom prst="rect">
            <a:avLst/>
          </a:prstGeom>
        </p:spPr>
      </p:pic>
      <p:sp>
        <p:nvSpPr>
          <p:cNvPr id="128" name="Google Shape;128;p6"/>
          <p:cNvSpPr txBox="1">
            <a:spLocks noGrp="1"/>
          </p:cNvSpPr>
          <p:nvPr>
            <p:ph type="title"/>
          </p:nvPr>
        </p:nvSpPr>
        <p:spPr>
          <a:xfrm>
            <a:off x="787401" y="1619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ru-RU" sz="4000" b="1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Подготовка и Анализ данных</a:t>
            </a:r>
            <a:endParaRPr sz="4000" b="1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 txBox="1"/>
          <p:nvPr/>
        </p:nvSpPr>
        <p:spPr>
          <a:xfrm>
            <a:off x="474655" y="6268720"/>
            <a:ext cx="62549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4/21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02;p3"/>
          <p:cNvSpPr txBox="1">
            <a:spLocks/>
          </p:cNvSpPr>
          <p:nvPr/>
        </p:nvSpPr>
        <p:spPr>
          <a:xfrm>
            <a:off x="838200" y="1317628"/>
            <a:ext cx="10515600" cy="477227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 algn="just">
              <a:lnSpc>
                <a:spcPct val="100000"/>
              </a:lnSpc>
              <a:spcBef>
                <a:spcPts val="0"/>
              </a:spcBef>
              <a:buSzPts val="2800"/>
              <a:buNone/>
            </a:pPr>
            <a:r>
              <a:rPr lang="ru-RU" sz="3200" dirty="0" smtClean="0"/>
              <a:t>Первым шагом были преобразованы данные в столбиках следующим образом:</a:t>
            </a:r>
          </a:p>
          <a:p>
            <a:pPr lvl="2" algn="just">
              <a:lnSpc>
                <a:spcPct val="100000"/>
              </a:lnSpc>
              <a:spcBef>
                <a:spcPts val="0"/>
              </a:spcBef>
              <a:buSzPts val="2800"/>
            </a:pPr>
            <a:r>
              <a:rPr lang="ru-RU" sz="2800" dirty="0" smtClean="0"/>
              <a:t>Тип строки с перечислением через запятую был </a:t>
            </a:r>
            <a:r>
              <a:rPr lang="ru-RU" sz="2800" dirty="0" err="1" smtClean="0"/>
              <a:t>замененн</a:t>
            </a:r>
            <a:r>
              <a:rPr lang="ru-RU" sz="2800" dirty="0" smtClean="0"/>
              <a:t> на тип </a:t>
            </a:r>
            <a:r>
              <a:rPr lang="en-US" sz="2800" dirty="0" err="1" smtClean="0"/>
              <a:t>numpy</a:t>
            </a:r>
            <a:r>
              <a:rPr lang="en-US" sz="2800" dirty="0" smtClean="0"/>
              <a:t> </a:t>
            </a:r>
            <a:r>
              <a:rPr lang="ru-RU" sz="2800" dirty="0" smtClean="0"/>
              <a:t>массива</a:t>
            </a:r>
          </a:p>
          <a:p>
            <a:pPr lvl="2" algn="just">
              <a:lnSpc>
                <a:spcPct val="100000"/>
              </a:lnSpc>
              <a:spcBef>
                <a:spcPts val="0"/>
              </a:spcBef>
              <a:buSzPts val="2800"/>
            </a:pPr>
            <a:r>
              <a:rPr lang="ru-RU" sz="2800" dirty="0" smtClean="0"/>
              <a:t>Тип даты поменяли на </a:t>
            </a:r>
            <a:r>
              <a:rPr lang="en-US" sz="2800" dirty="0" err="1"/>
              <a:t>numpy</a:t>
            </a:r>
            <a:r>
              <a:rPr lang="en-US" sz="2800" dirty="0"/>
              <a:t> </a:t>
            </a:r>
            <a:r>
              <a:rPr lang="en-US" sz="2800" dirty="0" smtClean="0"/>
              <a:t>datetime64</a:t>
            </a:r>
          </a:p>
          <a:p>
            <a:pPr lvl="2" algn="just">
              <a:lnSpc>
                <a:spcPct val="100000"/>
              </a:lnSpc>
              <a:spcBef>
                <a:spcPts val="0"/>
              </a:spcBef>
              <a:buSzPts val="2800"/>
            </a:pPr>
            <a:r>
              <a:rPr lang="ru-RU" sz="2800" dirty="0" smtClean="0"/>
              <a:t>Также в необходимых столбцах были заменены пустые значения под подходящий тип</a:t>
            </a:r>
          </a:p>
          <a:p>
            <a:pPr lvl="2" algn="just">
              <a:lnSpc>
                <a:spcPct val="100000"/>
              </a:lnSpc>
              <a:spcBef>
                <a:spcPts val="0"/>
              </a:spcBef>
              <a:buSzPts val="2800"/>
            </a:pP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024002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66750" y="384178"/>
            <a:ext cx="14401800" cy="933450"/>
          </a:xfrm>
          <a:prstGeom prst="rect">
            <a:avLst/>
          </a:prstGeom>
        </p:spPr>
      </p:pic>
      <p:sp>
        <p:nvSpPr>
          <p:cNvPr id="147" name="Google Shape;147;p8"/>
          <p:cNvSpPr txBox="1"/>
          <p:nvPr/>
        </p:nvSpPr>
        <p:spPr>
          <a:xfrm>
            <a:off x="474655" y="6268720"/>
            <a:ext cx="62549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ru-RU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/21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48;p8"/>
          <p:cNvSpPr txBox="1">
            <a:spLocks noGrp="1"/>
          </p:cNvSpPr>
          <p:nvPr>
            <p:ph type="title"/>
          </p:nvPr>
        </p:nvSpPr>
        <p:spPr>
          <a:xfrm>
            <a:off x="787399" y="161925"/>
            <a:ext cx="1034732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4000"/>
            </a:pPr>
            <a:r>
              <a:rPr lang="ru-RU" sz="4000" b="1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Подготовка данных </a:t>
            </a:r>
            <a:r>
              <a:rPr lang="en-US" sz="4000" b="1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Interactions</a:t>
            </a:r>
            <a:endParaRPr sz="4000" b="1" dirty="0">
              <a:solidFill>
                <a:schemeClr val="bg1"/>
              </a:solidFill>
              <a:sym typeface="Calibri"/>
            </a:endParaRPr>
          </a:p>
        </p:txBody>
      </p:sp>
      <p:sp>
        <p:nvSpPr>
          <p:cNvPr id="12" name="Google Shape;102;p3"/>
          <p:cNvSpPr txBox="1">
            <a:spLocks/>
          </p:cNvSpPr>
          <p:nvPr/>
        </p:nvSpPr>
        <p:spPr>
          <a:xfrm>
            <a:off x="838200" y="1317628"/>
            <a:ext cx="10515600" cy="294957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 algn="just">
              <a:lnSpc>
                <a:spcPct val="100000"/>
              </a:lnSpc>
              <a:spcBef>
                <a:spcPts val="0"/>
              </a:spcBef>
              <a:buSzPts val="2800"/>
              <a:buNone/>
            </a:pPr>
            <a:r>
              <a:rPr lang="ru-RU" sz="3200" dirty="0" smtClean="0"/>
              <a:t>Дл</a:t>
            </a:r>
            <a:r>
              <a:rPr lang="ru-RU" sz="3200" dirty="0" smtClean="0"/>
              <a:t>я </a:t>
            </a:r>
            <a:r>
              <a:rPr lang="en-US" sz="3200" dirty="0" err="1" smtClean="0"/>
              <a:t>DataFrame</a:t>
            </a:r>
            <a:r>
              <a:rPr lang="en-US" sz="3200" dirty="0" smtClean="0"/>
              <a:t> Interactions </a:t>
            </a:r>
            <a:r>
              <a:rPr lang="ru-RU" sz="3200" dirty="0" smtClean="0"/>
              <a:t>были проделаны следующие преобразования: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  <a:buSzPts val="2800"/>
            </a:pPr>
            <a:r>
              <a:rPr lang="ru-RU" sz="3200" dirty="0" smtClean="0"/>
              <a:t>Удалена последняя строка с пропусками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  <a:buSzPts val="2800"/>
            </a:pPr>
            <a:r>
              <a:rPr lang="ru-RU" sz="3200" dirty="0" smtClean="0"/>
              <a:t>Удаляются строки, у которых процент просмотра фильма </a:t>
            </a:r>
            <a:r>
              <a:rPr lang="en-US" sz="3200" dirty="0" smtClean="0"/>
              <a:t>&lt; 50</a:t>
            </a:r>
            <a:r>
              <a:rPr lang="ru-RU" sz="3200" dirty="0" smtClean="0"/>
              <a:t> </a:t>
            </a:r>
          </a:p>
          <a:p>
            <a:pPr lvl="1" algn="just">
              <a:lnSpc>
                <a:spcPct val="100000"/>
              </a:lnSpc>
              <a:spcBef>
                <a:spcPts val="0"/>
              </a:spcBef>
              <a:buSzPts val="2800"/>
            </a:pPr>
            <a:r>
              <a:rPr lang="ru-RU" sz="3200" dirty="0" smtClean="0"/>
              <a:t>Отфильтрованы строки, чтобы </a:t>
            </a:r>
            <a:r>
              <a:rPr lang="en-US" sz="3200" dirty="0" err="1" smtClean="0"/>
              <a:t>item_id</a:t>
            </a:r>
            <a:r>
              <a:rPr lang="en-US" sz="3200" dirty="0" smtClean="0"/>
              <a:t> </a:t>
            </a:r>
            <a:r>
              <a:rPr lang="ru-RU" sz="3200" dirty="0" smtClean="0"/>
              <a:t>и </a:t>
            </a:r>
            <a:r>
              <a:rPr lang="en-US" sz="3200" dirty="0" err="1" smtClean="0"/>
              <a:t>user_id</a:t>
            </a:r>
            <a:r>
              <a:rPr lang="en-US" sz="3200" dirty="0" smtClean="0"/>
              <a:t> </a:t>
            </a:r>
            <a:r>
              <a:rPr lang="ru-RU" sz="3200" dirty="0" smtClean="0"/>
              <a:t>взаимодействия точно присутствовали в Таблицах </a:t>
            </a:r>
            <a:r>
              <a:rPr lang="en-US" sz="3200" dirty="0" smtClean="0"/>
              <a:t>Users</a:t>
            </a:r>
            <a:r>
              <a:rPr lang="ru-RU" sz="3200" dirty="0" smtClean="0"/>
              <a:t> и </a:t>
            </a:r>
            <a:r>
              <a:rPr lang="en-US" sz="3200" dirty="0" smtClean="0"/>
              <a:t>Items</a:t>
            </a:r>
            <a:br>
              <a:rPr lang="en-US" sz="3200" dirty="0" smtClean="0"/>
            </a:br>
            <a:r>
              <a:rPr lang="en-US" sz="1200" dirty="0" err="1"/>
              <a:t>df_interactions</a:t>
            </a:r>
            <a:r>
              <a:rPr lang="en-US" sz="1200" dirty="0"/>
              <a:t> = </a:t>
            </a:r>
            <a:r>
              <a:rPr lang="en-US" sz="1200" dirty="0" err="1"/>
              <a:t>df_interactions</a:t>
            </a:r>
            <a:r>
              <a:rPr lang="en-US" sz="1200" dirty="0"/>
              <a:t>[</a:t>
            </a:r>
            <a:r>
              <a:rPr lang="en-US" sz="1200" dirty="0" err="1"/>
              <a:t>df_interactions</a:t>
            </a:r>
            <a:r>
              <a:rPr lang="en-US" sz="1200" dirty="0"/>
              <a:t>['</a:t>
            </a:r>
            <a:r>
              <a:rPr lang="en-US" sz="1200" dirty="0" err="1"/>
              <a:t>user_id</a:t>
            </a:r>
            <a:r>
              <a:rPr lang="en-US" sz="1200" dirty="0"/>
              <a:t>'].</a:t>
            </a:r>
            <a:r>
              <a:rPr lang="en-US" sz="1200" dirty="0" err="1"/>
              <a:t>isin</a:t>
            </a:r>
            <a:r>
              <a:rPr lang="en-US" sz="1200" dirty="0"/>
              <a:t>(</a:t>
            </a:r>
            <a:r>
              <a:rPr lang="en-US" sz="1200" dirty="0" err="1"/>
              <a:t>df_users</a:t>
            </a:r>
            <a:r>
              <a:rPr lang="en-US" sz="1200" dirty="0"/>
              <a:t>['</a:t>
            </a:r>
            <a:r>
              <a:rPr lang="en-US" sz="1200" dirty="0" err="1"/>
              <a:t>user_id</a:t>
            </a:r>
            <a:r>
              <a:rPr lang="en-US" sz="1200" dirty="0"/>
              <a:t>']) &amp; </a:t>
            </a:r>
            <a:r>
              <a:rPr lang="en-US" sz="1200" dirty="0" err="1"/>
              <a:t>df_interactions</a:t>
            </a:r>
            <a:r>
              <a:rPr lang="en-US" sz="1200" dirty="0"/>
              <a:t>['</a:t>
            </a:r>
            <a:r>
              <a:rPr lang="en-US" sz="1200" dirty="0" err="1"/>
              <a:t>item_id</a:t>
            </a:r>
            <a:r>
              <a:rPr lang="en-US" sz="1200" dirty="0"/>
              <a:t>'].</a:t>
            </a:r>
            <a:r>
              <a:rPr lang="en-US" sz="1200" dirty="0" err="1"/>
              <a:t>isin</a:t>
            </a:r>
            <a:r>
              <a:rPr lang="en-US" sz="1200" dirty="0"/>
              <a:t>(</a:t>
            </a:r>
            <a:r>
              <a:rPr lang="en-US" sz="1200" dirty="0" err="1"/>
              <a:t>df_items</a:t>
            </a:r>
            <a:r>
              <a:rPr lang="en-US" sz="1200" dirty="0"/>
              <a:t>['</a:t>
            </a:r>
            <a:r>
              <a:rPr lang="en-US" sz="1200" dirty="0" err="1"/>
              <a:t>item_id</a:t>
            </a:r>
            <a:r>
              <a:rPr lang="en-US" sz="1200" dirty="0"/>
              <a:t>'])]</a:t>
            </a:r>
            <a:endParaRPr lang="en-US" dirty="0"/>
          </a:p>
          <a:p>
            <a:pPr lvl="1" algn="just">
              <a:lnSpc>
                <a:spcPct val="100000"/>
              </a:lnSpc>
              <a:spcBef>
                <a:spcPts val="0"/>
              </a:spcBef>
              <a:buSzPts val="2800"/>
            </a:pPr>
            <a:endParaRPr lang="ru-RU" sz="2800" dirty="0" smtClean="0"/>
          </a:p>
          <a:p>
            <a:pPr lvl="2" algn="just">
              <a:lnSpc>
                <a:spcPct val="100000"/>
              </a:lnSpc>
              <a:spcBef>
                <a:spcPts val="0"/>
              </a:spcBef>
              <a:buSzPts val="2800"/>
            </a:pPr>
            <a:endParaRPr lang="ru-RU" sz="28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4948" y="4219575"/>
            <a:ext cx="6372225" cy="2590800"/>
          </a:xfrm>
          <a:prstGeom prst="rect">
            <a:avLst/>
          </a:prstGeom>
          <a:solidFill>
            <a:srgbClr val="FFFFFF">
              <a:shade val="85000"/>
            </a:srgbClr>
          </a:solidFill>
          <a:ln w="12700" cap="sq">
            <a:solidFill>
              <a:schemeClr val="tx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655307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66750" y="384178"/>
            <a:ext cx="14401800" cy="933450"/>
          </a:xfrm>
          <a:prstGeom prst="rect">
            <a:avLst/>
          </a:prstGeom>
        </p:spPr>
      </p:pic>
      <p:sp>
        <p:nvSpPr>
          <p:cNvPr id="147" name="Google Shape;147;p8"/>
          <p:cNvSpPr txBox="1"/>
          <p:nvPr/>
        </p:nvSpPr>
        <p:spPr>
          <a:xfrm>
            <a:off x="474655" y="6268720"/>
            <a:ext cx="62549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lang="ru-RU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/21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 txBox="1">
            <a:spLocks noGrp="1"/>
          </p:cNvSpPr>
          <p:nvPr>
            <p:ph type="title"/>
          </p:nvPr>
        </p:nvSpPr>
        <p:spPr>
          <a:xfrm>
            <a:off x="787399" y="161925"/>
            <a:ext cx="1034732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4000"/>
            </a:pPr>
            <a:r>
              <a:rPr lang="ru-RU" sz="4000" b="1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Анализ данных </a:t>
            </a:r>
            <a:r>
              <a:rPr lang="en-US" sz="4000" b="1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Interactions</a:t>
            </a:r>
            <a:endParaRPr sz="4000" b="1" dirty="0">
              <a:solidFill>
                <a:schemeClr val="bg1"/>
              </a:solidFill>
              <a:sym typeface="Calibri"/>
            </a:endParaRPr>
          </a:p>
        </p:txBody>
      </p:sp>
      <p:sp>
        <p:nvSpPr>
          <p:cNvPr id="8" name="Google Shape;102;p3"/>
          <p:cNvSpPr txBox="1">
            <a:spLocks/>
          </p:cNvSpPr>
          <p:nvPr/>
        </p:nvSpPr>
        <p:spPr>
          <a:xfrm>
            <a:off x="838200" y="1317628"/>
            <a:ext cx="6048375" cy="266382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 algn="just">
              <a:lnSpc>
                <a:spcPct val="100000"/>
              </a:lnSpc>
              <a:spcBef>
                <a:spcPts val="0"/>
              </a:spcBef>
              <a:buSzPts val="2800"/>
              <a:buNone/>
            </a:pPr>
            <a:r>
              <a:rPr lang="ru-RU" sz="3200" dirty="0" smtClean="0"/>
              <a:t>На графике процентов</a:t>
            </a:r>
            <a:r>
              <a:rPr lang="en-US" sz="3200" dirty="0" smtClean="0"/>
              <a:t> </a:t>
            </a:r>
            <a:r>
              <a:rPr lang="ru-RU" sz="3200" dirty="0" smtClean="0"/>
              <a:t>просмотра</a:t>
            </a:r>
            <a:r>
              <a:rPr lang="en-US" sz="3200" dirty="0" smtClean="0"/>
              <a:t> </a:t>
            </a:r>
            <a:r>
              <a:rPr lang="ru-RU" sz="3200" dirty="0"/>
              <a:t>(</a:t>
            </a:r>
            <a:r>
              <a:rPr lang="en-US" sz="3200" dirty="0" err="1"/>
              <a:t>watched_pct</a:t>
            </a:r>
            <a:r>
              <a:rPr lang="en-US" sz="3200" dirty="0"/>
              <a:t>)</a:t>
            </a:r>
            <a:r>
              <a:rPr lang="ru-RU" sz="3200" dirty="0" smtClean="0"/>
              <a:t> видно, что </a:t>
            </a:r>
            <a:r>
              <a:rPr lang="ru-RU" sz="3200" dirty="0" err="1" smtClean="0"/>
              <a:t>пости</a:t>
            </a:r>
            <a:r>
              <a:rPr lang="ru-RU" sz="3200" dirty="0" smtClean="0"/>
              <a:t> половина пользователей не досматривают фильм даже до середины (по оси </a:t>
            </a:r>
            <a:r>
              <a:rPr lang="en-US" sz="3200" dirty="0" smtClean="0"/>
              <a:t>x</a:t>
            </a:r>
            <a:r>
              <a:rPr lang="ru-RU" sz="3200" dirty="0" smtClean="0"/>
              <a:t> -</a:t>
            </a:r>
            <a:r>
              <a:rPr lang="en-US" sz="3200" dirty="0" smtClean="0"/>
              <a:t> </a:t>
            </a:r>
            <a:r>
              <a:rPr lang="ru-RU" sz="3200" dirty="0" smtClean="0"/>
              <a:t>процент просмотра, по оси </a:t>
            </a:r>
            <a:r>
              <a:rPr lang="en-US" sz="3200" dirty="0" smtClean="0"/>
              <a:t>y – </a:t>
            </a:r>
            <a:r>
              <a:rPr lang="ru-RU" sz="3200" dirty="0" smtClean="0"/>
              <a:t>количество взаимодействий):</a:t>
            </a:r>
            <a:endParaRPr lang="ru-RU" sz="2800" dirty="0" smtClean="0"/>
          </a:p>
          <a:p>
            <a:pPr lvl="2" algn="just">
              <a:lnSpc>
                <a:spcPct val="100000"/>
              </a:lnSpc>
              <a:spcBef>
                <a:spcPts val="0"/>
              </a:spcBef>
              <a:buSzPts val="2800"/>
            </a:pPr>
            <a:endParaRPr lang="ru-RU" sz="28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6036" y="1317628"/>
            <a:ext cx="3894136" cy="2713867"/>
          </a:xfrm>
          <a:prstGeom prst="rect">
            <a:avLst/>
          </a:prstGeom>
        </p:spPr>
      </p:pic>
      <p:sp>
        <p:nvSpPr>
          <p:cNvPr id="11" name="Google Shape;102;p3"/>
          <p:cNvSpPr txBox="1">
            <a:spLocks/>
          </p:cNvSpPr>
          <p:nvPr/>
        </p:nvSpPr>
        <p:spPr>
          <a:xfrm>
            <a:off x="787399" y="3974232"/>
            <a:ext cx="11004551" cy="106449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 algn="just">
              <a:lnSpc>
                <a:spcPct val="100000"/>
              </a:lnSpc>
              <a:spcBef>
                <a:spcPts val="0"/>
              </a:spcBef>
              <a:buSzPts val="2800"/>
              <a:buNone/>
            </a:pPr>
            <a:r>
              <a:rPr lang="ru-RU" sz="3200" dirty="0" smtClean="0"/>
              <a:t>При этом до 85% хронометража досматривало всего 1.49 млн.</a:t>
            </a:r>
            <a:r>
              <a:rPr lang="en-US" sz="3200" dirty="0" smtClean="0"/>
              <a:t> </a:t>
            </a:r>
            <a:r>
              <a:rPr lang="ru-RU" sz="3200" dirty="0" smtClean="0"/>
              <a:t>раз из 4.42 млн.</a:t>
            </a:r>
            <a:endParaRPr lang="ru-RU" sz="2800" dirty="0" smtClean="0"/>
          </a:p>
          <a:p>
            <a:pPr lvl="2" algn="just">
              <a:lnSpc>
                <a:spcPct val="100000"/>
              </a:lnSpc>
              <a:spcBef>
                <a:spcPts val="0"/>
              </a:spcBef>
              <a:buSzPts val="2800"/>
            </a:pPr>
            <a:endParaRPr lang="ru-RU" sz="28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3525" y="4964945"/>
            <a:ext cx="9182100" cy="79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806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66750" y="384178"/>
            <a:ext cx="14401800" cy="933450"/>
          </a:xfrm>
          <a:prstGeom prst="rect">
            <a:avLst/>
          </a:prstGeom>
        </p:spPr>
      </p:pic>
      <p:sp>
        <p:nvSpPr>
          <p:cNvPr id="147" name="Google Shape;147;p8"/>
          <p:cNvSpPr txBox="1"/>
          <p:nvPr/>
        </p:nvSpPr>
        <p:spPr>
          <a:xfrm>
            <a:off x="474655" y="6268720"/>
            <a:ext cx="62549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lang="ru-RU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/21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 txBox="1">
            <a:spLocks noGrp="1"/>
          </p:cNvSpPr>
          <p:nvPr>
            <p:ph type="title"/>
          </p:nvPr>
        </p:nvSpPr>
        <p:spPr>
          <a:xfrm>
            <a:off x="787399" y="161925"/>
            <a:ext cx="1034732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4000"/>
            </a:pPr>
            <a:r>
              <a:rPr lang="ru-RU" sz="4000" b="1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Анализ данных </a:t>
            </a:r>
            <a:r>
              <a:rPr lang="en-US" sz="4000" b="1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Interactions</a:t>
            </a:r>
            <a:endParaRPr sz="4000" b="1" dirty="0">
              <a:solidFill>
                <a:schemeClr val="bg1"/>
              </a:solidFill>
              <a:sym typeface="Calibri"/>
            </a:endParaRPr>
          </a:p>
        </p:txBody>
      </p:sp>
      <p:sp>
        <p:nvSpPr>
          <p:cNvPr id="8" name="Google Shape;102;p3"/>
          <p:cNvSpPr txBox="1">
            <a:spLocks/>
          </p:cNvSpPr>
          <p:nvPr/>
        </p:nvSpPr>
        <p:spPr>
          <a:xfrm>
            <a:off x="838200" y="1317628"/>
            <a:ext cx="6048375" cy="266382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 algn="just">
              <a:lnSpc>
                <a:spcPct val="100000"/>
              </a:lnSpc>
              <a:spcBef>
                <a:spcPts val="0"/>
              </a:spcBef>
              <a:buSzPts val="2800"/>
              <a:buNone/>
            </a:pPr>
            <a:r>
              <a:rPr lang="ru-RU" sz="3200" dirty="0" smtClean="0"/>
              <a:t>На графике активности видно, что пик взаимодействий и просмотренного времени пришелся на лето 2021 года</a:t>
            </a:r>
            <a:endParaRPr lang="ru-RU" sz="2800" dirty="0" smtClean="0"/>
          </a:p>
          <a:p>
            <a:pPr lvl="2" algn="just">
              <a:lnSpc>
                <a:spcPct val="100000"/>
              </a:lnSpc>
              <a:spcBef>
                <a:spcPts val="0"/>
              </a:spcBef>
              <a:buSzPts val="2800"/>
            </a:pPr>
            <a:endParaRPr lang="ru-RU" sz="28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2800" y="1413511"/>
            <a:ext cx="4667250" cy="3508375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3537" y="3347879"/>
            <a:ext cx="4776715" cy="3148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4176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66750" y="384178"/>
            <a:ext cx="14401800" cy="933450"/>
          </a:xfrm>
          <a:prstGeom prst="rect">
            <a:avLst/>
          </a:prstGeom>
        </p:spPr>
      </p:pic>
      <p:sp>
        <p:nvSpPr>
          <p:cNvPr id="147" name="Google Shape;147;p8"/>
          <p:cNvSpPr txBox="1"/>
          <p:nvPr/>
        </p:nvSpPr>
        <p:spPr>
          <a:xfrm>
            <a:off x="474655" y="6268720"/>
            <a:ext cx="62549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lang="ru-RU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/21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 txBox="1">
            <a:spLocks noGrp="1"/>
          </p:cNvSpPr>
          <p:nvPr>
            <p:ph type="title"/>
          </p:nvPr>
        </p:nvSpPr>
        <p:spPr>
          <a:xfrm>
            <a:off x="787399" y="161925"/>
            <a:ext cx="1034732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4000"/>
            </a:pPr>
            <a:r>
              <a:rPr lang="ru-RU" sz="4000" b="1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Анализ данных </a:t>
            </a:r>
            <a:r>
              <a:rPr lang="en-US" sz="4000" b="1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Interactions</a:t>
            </a:r>
            <a:endParaRPr sz="4000" b="1" dirty="0">
              <a:solidFill>
                <a:schemeClr val="bg1"/>
              </a:solidFill>
              <a:sym typeface="Calibri"/>
            </a:endParaRPr>
          </a:p>
        </p:txBody>
      </p:sp>
      <p:sp>
        <p:nvSpPr>
          <p:cNvPr id="8" name="Google Shape;102;p3"/>
          <p:cNvSpPr txBox="1">
            <a:spLocks/>
          </p:cNvSpPr>
          <p:nvPr/>
        </p:nvSpPr>
        <p:spPr>
          <a:xfrm>
            <a:off x="838200" y="1317628"/>
            <a:ext cx="11087100" cy="266382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 algn="just">
              <a:lnSpc>
                <a:spcPct val="100000"/>
              </a:lnSpc>
              <a:spcBef>
                <a:spcPts val="0"/>
              </a:spcBef>
              <a:buSzPts val="2800"/>
              <a:buNone/>
            </a:pPr>
            <a:r>
              <a:rPr lang="ru-RU" sz="3200" dirty="0" smtClean="0"/>
              <a:t>На графике видно, что большинство пользователей смотрит не более 5 фильмов </a:t>
            </a:r>
            <a:endParaRPr lang="ru-RU" sz="2800" dirty="0" smtClean="0"/>
          </a:p>
          <a:p>
            <a:pPr lvl="2" algn="just">
              <a:lnSpc>
                <a:spcPct val="100000"/>
              </a:lnSpc>
              <a:spcBef>
                <a:spcPts val="0"/>
              </a:spcBef>
              <a:buSzPts val="2800"/>
            </a:pPr>
            <a:endParaRPr lang="ru-RU" sz="28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6079" y="2828924"/>
            <a:ext cx="5084995" cy="370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450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66750" y="384178"/>
            <a:ext cx="14401800" cy="933450"/>
          </a:xfrm>
          <a:prstGeom prst="rect">
            <a:avLst/>
          </a:prstGeom>
        </p:spPr>
      </p:pic>
      <p:sp>
        <p:nvSpPr>
          <p:cNvPr id="147" name="Google Shape;147;p8"/>
          <p:cNvSpPr txBox="1"/>
          <p:nvPr/>
        </p:nvSpPr>
        <p:spPr>
          <a:xfrm>
            <a:off x="474655" y="6268720"/>
            <a:ext cx="62549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lang="ru-RU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/21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 txBox="1">
            <a:spLocks noGrp="1"/>
          </p:cNvSpPr>
          <p:nvPr>
            <p:ph type="title"/>
          </p:nvPr>
        </p:nvSpPr>
        <p:spPr>
          <a:xfrm>
            <a:off x="787399" y="161925"/>
            <a:ext cx="1034732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4000"/>
            </a:pPr>
            <a:r>
              <a:rPr lang="ru-RU" sz="4000" b="1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Анализ данных </a:t>
            </a:r>
            <a:r>
              <a:rPr lang="en-US" sz="4000" b="1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Interactions</a:t>
            </a:r>
            <a:endParaRPr sz="4000" b="1" dirty="0">
              <a:solidFill>
                <a:schemeClr val="bg1"/>
              </a:solidFill>
              <a:sym typeface="Calibri"/>
            </a:endParaRPr>
          </a:p>
        </p:txBody>
      </p:sp>
      <p:sp>
        <p:nvSpPr>
          <p:cNvPr id="8" name="Google Shape;102;p3"/>
          <p:cNvSpPr txBox="1">
            <a:spLocks/>
          </p:cNvSpPr>
          <p:nvPr/>
        </p:nvSpPr>
        <p:spPr>
          <a:xfrm>
            <a:off x="838200" y="1317628"/>
            <a:ext cx="11087100" cy="266382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 algn="just">
              <a:lnSpc>
                <a:spcPct val="100000"/>
              </a:lnSpc>
              <a:spcBef>
                <a:spcPts val="0"/>
              </a:spcBef>
              <a:buSzPts val="2800"/>
              <a:buNone/>
            </a:pPr>
            <a:r>
              <a:rPr lang="ru-RU" sz="3200" dirty="0" smtClean="0"/>
              <a:t>На графике видно, что количества фильмов, которые посмотрели 1-5 человек и которые смотрят больше 20 человек примерно равны</a:t>
            </a:r>
            <a:endParaRPr lang="ru-RU" sz="2800" dirty="0" smtClean="0"/>
          </a:p>
          <a:p>
            <a:pPr lvl="2" algn="just">
              <a:lnSpc>
                <a:spcPct val="100000"/>
              </a:lnSpc>
              <a:spcBef>
                <a:spcPts val="0"/>
              </a:spcBef>
              <a:buSzPts val="2800"/>
            </a:pPr>
            <a:endParaRPr lang="ru-RU" sz="28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1499" y="3037602"/>
            <a:ext cx="5039124" cy="36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415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66750" y="384178"/>
            <a:ext cx="14401800" cy="933450"/>
          </a:xfrm>
          <a:prstGeom prst="rect">
            <a:avLst/>
          </a:prstGeom>
        </p:spPr>
      </p:pic>
      <p:sp>
        <p:nvSpPr>
          <p:cNvPr id="147" name="Google Shape;147;p8"/>
          <p:cNvSpPr txBox="1"/>
          <p:nvPr/>
        </p:nvSpPr>
        <p:spPr>
          <a:xfrm>
            <a:off x="474654" y="6268720"/>
            <a:ext cx="97314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10/21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 txBox="1">
            <a:spLocks noGrp="1"/>
          </p:cNvSpPr>
          <p:nvPr>
            <p:ph type="title"/>
          </p:nvPr>
        </p:nvSpPr>
        <p:spPr>
          <a:xfrm>
            <a:off x="787399" y="180975"/>
            <a:ext cx="1034732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4000"/>
            </a:pPr>
            <a:r>
              <a:rPr lang="ru-RU" sz="4000" b="1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Анализ данных </a:t>
            </a:r>
            <a:r>
              <a:rPr lang="en-US" sz="4000" b="1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Users </a:t>
            </a:r>
            <a:r>
              <a:rPr lang="ru-RU" sz="4000" b="1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флажок детского аккаунта</a:t>
            </a:r>
            <a:endParaRPr sz="4000" b="1" dirty="0">
              <a:solidFill>
                <a:schemeClr val="bg1"/>
              </a:solidFill>
              <a:sym typeface="Calibri"/>
            </a:endParaRPr>
          </a:p>
        </p:txBody>
      </p:sp>
      <p:sp>
        <p:nvSpPr>
          <p:cNvPr id="8" name="Google Shape;102;p3"/>
          <p:cNvSpPr txBox="1">
            <a:spLocks/>
          </p:cNvSpPr>
          <p:nvPr/>
        </p:nvSpPr>
        <p:spPr>
          <a:xfrm>
            <a:off x="838200" y="1317628"/>
            <a:ext cx="6477000" cy="459739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 algn="just">
              <a:lnSpc>
                <a:spcPct val="100000"/>
              </a:lnSpc>
              <a:spcBef>
                <a:spcPts val="0"/>
              </a:spcBef>
              <a:buSzPts val="2800"/>
              <a:buNone/>
            </a:pPr>
            <a:r>
              <a:rPr lang="ru-RU" sz="3200" dirty="0" smtClean="0"/>
              <a:t>Была проанализирована достоверность флажка </a:t>
            </a:r>
            <a:r>
              <a:rPr lang="en-US" sz="3200" dirty="0" err="1" smtClean="0"/>
              <a:t>kids_flg</a:t>
            </a:r>
            <a:r>
              <a:rPr lang="en-US" sz="3200" dirty="0" smtClean="0"/>
              <a:t> </a:t>
            </a:r>
            <a:r>
              <a:rPr lang="ru-RU" sz="3200" dirty="0" smtClean="0"/>
              <a:t>у пользователей, т.к. для этого столбика не было ни одного пустого значения.</a:t>
            </a:r>
          </a:p>
          <a:p>
            <a:pPr marL="457200" lvl="1" indent="0" algn="just">
              <a:lnSpc>
                <a:spcPct val="100000"/>
              </a:lnSpc>
              <a:spcBef>
                <a:spcPts val="0"/>
              </a:spcBef>
              <a:buSzPts val="2800"/>
              <a:buNone/>
            </a:pPr>
            <a:endParaRPr lang="ru-RU" sz="3200" dirty="0"/>
          </a:p>
          <a:p>
            <a:pPr marL="457200" lvl="1" indent="0" algn="just">
              <a:lnSpc>
                <a:spcPct val="100000"/>
              </a:lnSpc>
              <a:spcBef>
                <a:spcPts val="0"/>
              </a:spcBef>
              <a:buSzPts val="2800"/>
              <a:buNone/>
            </a:pPr>
            <a:r>
              <a:rPr lang="ru-RU" sz="3200" dirty="0" smtClean="0"/>
              <a:t>Для всех пользователей с включенным флажком были собраны все </a:t>
            </a:r>
            <a:r>
              <a:rPr lang="en-US" sz="3200" dirty="0" smtClean="0"/>
              <a:t>items </a:t>
            </a:r>
            <a:r>
              <a:rPr lang="ru-RU" sz="3200" dirty="0" smtClean="0"/>
              <a:t>из </a:t>
            </a:r>
            <a:r>
              <a:rPr lang="en-US" sz="3200" dirty="0" smtClean="0"/>
              <a:t>Interactions </a:t>
            </a:r>
            <a:r>
              <a:rPr lang="ru-RU" sz="3200" dirty="0" smtClean="0"/>
              <a:t>и выведена информация по ним </a:t>
            </a:r>
          </a:p>
          <a:p>
            <a:pPr marL="457200" lvl="1" indent="0" algn="just">
              <a:lnSpc>
                <a:spcPct val="100000"/>
              </a:lnSpc>
              <a:spcBef>
                <a:spcPts val="0"/>
              </a:spcBef>
              <a:buSzPts val="2800"/>
              <a:buNone/>
            </a:pPr>
            <a:endParaRPr lang="ru-RU" sz="2800" dirty="0" smtClean="0"/>
          </a:p>
          <a:p>
            <a:pPr lvl="2" algn="just">
              <a:lnSpc>
                <a:spcPct val="100000"/>
              </a:lnSpc>
              <a:spcBef>
                <a:spcPts val="0"/>
              </a:spcBef>
              <a:buSzPts val="2800"/>
            </a:pPr>
            <a:endParaRPr lang="ru-RU" sz="28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3837" y="1805128"/>
            <a:ext cx="3889843" cy="3833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5224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66750" y="384178"/>
            <a:ext cx="14401800" cy="933450"/>
          </a:xfrm>
          <a:prstGeom prst="rect">
            <a:avLst/>
          </a:prstGeom>
        </p:spPr>
      </p:pic>
      <p:sp>
        <p:nvSpPr>
          <p:cNvPr id="147" name="Google Shape;147;p8"/>
          <p:cNvSpPr txBox="1"/>
          <p:nvPr/>
        </p:nvSpPr>
        <p:spPr>
          <a:xfrm>
            <a:off x="474654" y="6268720"/>
            <a:ext cx="97314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11/21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 txBox="1">
            <a:spLocks noGrp="1"/>
          </p:cNvSpPr>
          <p:nvPr>
            <p:ph type="title"/>
          </p:nvPr>
        </p:nvSpPr>
        <p:spPr>
          <a:xfrm>
            <a:off x="787399" y="180975"/>
            <a:ext cx="1034732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4000"/>
            </a:pPr>
            <a:r>
              <a:rPr lang="ru-RU" sz="4000" b="1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Анализ данных </a:t>
            </a:r>
            <a:r>
              <a:rPr lang="en-US" sz="4000" b="1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Users </a:t>
            </a:r>
            <a:r>
              <a:rPr lang="ru-RU" sz="4000" b="1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флажок детского аккаунта</a:t>
            </a:r>
            <a:endParaRPr sz="4000" b="1" dirty="0">
              <a:solidFill>
                <a:schemeClr val="bg1"/>
              </a:solidFill>
              <a:sym typeface="Calibri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3724" y="1709878"/>
            <a:ext cx="6260461" cy="4667250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685799" y="1438275"/>
            <a:ext cx="4953001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0" i="0" dirty="0" smtClean="0">
                <a:solidFill>
                  <a:srgbClr val="1F1F1F"/>
                </a:solidFill>
                <a:effectLst/>
                <a:latin typeface="Google Sans Text"/>
              </a:rPr>
              <a:t>После анализа первых 50 </a:t>
            </a:r>
            <a:r>
              <a:rPr lang="ru-RU" b="0" i="0" dirty="0" err="1" smtClean="0">
                <a:solidFill>
                  <a:srgbClr val="1F1F1F"/>
                </a:solidFill>
                <a:effectLst/>
                <a:latin typeface="Google Sans Text"/>
              </a:rPr>
              <a:t>итемов</a:t>
            </a:r>
            <a:r>
              <a:rPr lang="ru-RU" b="0" i="0" dirty="0" smtClean="0">
                <a:solidFill>
                  <a:srgbClr val="1F1F1F"/>
                </a:solidFill>
                <a:effectLst/>
                <a:latin typeface="Google Sans Text"/>
              </a:rPr>
              <a:t> из полученного списка фильмов, которые были </a:t>
            </a:r>
            <a:r>
              <a:rPr lang="ru-RU" b="0" i="0" dirty="0" err="1" smtClean="0">
                <a:solidFill>
                  <a:srgbClr val="1F1F1F"/>
                </a:solidFill>
                <a:effectLst/>
                <a:latin typeface="Google Sans Text"/>
              </a:rPr>
              <a:t>просмотренны</a:t>
            </a:r>
            <a:r>
              <a:rPr lang="ru-RU" b="0" i="0" dirty="0" smtClean="0">
                <a:solidFill>
                  <a:srgbClr val="1F1F1F"/>
                </a:solidFill>
                <a:effectLst/>
                <a:latin typeface="Google Sans Text"/>
              </a:rPr>
              <a:t> юзерами с флагом </a:t>
            </a:r>
            <a:r>
              <a:rPr lang="ru-RU" b="0" i="0" dirty="0" err="1" smtClean="0">
                <a:solidFill>
                  <a:srgbClr val="1F1F1F"/>
                </a:solidFill>
                <a:effectLst/>
                <a:latin typeface="Google Sans Text"/>
              </a:rPr>
              <a:t>for_kids</a:t>
            </a:r>
            <a:r>
              <a:rPr lang="ru-RU" b="0" i="0" dirty="0" smtClean="0">
                <a:solidFill>
                  <a:srgbClr val="1F1F1F"/>
                </a:solidFill>
                <a:effectLst/>
                <a:latin typeface="Google Sans Text"/>
              </a:rPr>
              <a:t>, можно заметить что треть фильмов показывать детям точно не стоит (например Реинкарнация, </a:t>
            </a:r>
            <a:r>
              <a:rPr lang="ru-RU" b="0" i="0" dirty="0" err="1" smtClean="0">
                <a:solidFill>
                  <a:srgbClr val="1F1F1F"/>
                </a:solidFill>
                <a:effectLst/>
                <a:latin typeface="Google Sans Text"/>
              </a:rPr>
              <a:t>Бладфест</a:t>
            </a:r>
            <a:r>
              <a:rPr lang="ru-RU" b="0" i="0" dirty="0" smtClean="0">
                <a:solidFill>
                  <a:srgbClr val="1F1F1F"/>
                </a:solidFill>
                <a:effectLst/>
                <a:latin typeface="Google Sans Text"/>
              </a:rPr>
              <a:t>, Шлюхи и невесты, Затащи меня в ад, давай займемся сексом и т.д.)</a:t>
            </a:r>
          </a:p>
          <a:p>
            <a:endParaRPr lang="ru-RU" b="0" i="0" dirty="0" smtClean="0">
              <a:solidFill>
                <a:srgbClr val="1F1F1F"/>
              </a:solidFill>
              <a:effectLst/>
              <a:latin typeface="Google Sans Text"/>
            </a:endParaRPr>
          </a:p>
          <a:p>
            <a:r>
              <a:rPr lang="ru-RU" b="0" i="0" dirty="0" smtClean="0">
                <a:solidFill>
                  <a:srgbClr val="1F1F1F"/>
                </a:solidFill>
                <a:effectLst/>
                <a:latin typeface="Google Sans Text"/>
              </a:rPr>
              <a:t>Поэтому для рекомендаций </a:t>
            </a:r>
            <a:r>
              <a:rPr lang="ru-RU" b="0" i="0" dirty="0" err="1" smtClean="0">
                <a:solidFill>
                  <a:srgbClr val="1F1F1F"/>
                </a:solidFill>
                <a:effectLst/>
                <a:latin typeface="Google Sans Text"/>
              </a:rPr>
              <a:t>kids_flg</a:t>
            </a:r>
            <a:r>
              <a:rPr lang="ru-RU" b="0" i="0" dirty="0" smtClean="0">
                <a:solidFill>
                  <a:srgbClr val="1F1F1F"/>
                </a:solidFill>
                <a:effectLst/>
                <a:latin typeface="Google Sans Text"/>
              </a:rPr>
              <a:t> учитываться не будет</a:t>
            </a:r>
            <a:endParaRPr lang="ru-RU" b="0" i="0" dirty="0">
              <a:solidFill>
                <a:srgbClr val="1F1F1F"/>
              </a:solidFill>
              <a:effectLst/>
              <a:latin typeface="Google Sans Text"/>
            </a:endParaRPr>
          </a:p>
        </p:txBody>
      </p:sp>
    </p:spTree>
    <p:extLst>
      <p:ext uri="{BB962C8B-B14F-4D97-AF65-F5344CB8AC3E}">
        <p14:creationId xmlns:p14="http://schemas.microsoft.com/office/powerpoint/2010/main" val="30897012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66750" y="384178"/>
            <a:ext cx="14401800" cy="933450"/>
          </a:xfrm>
          <a:prstGeom prst="rect">
            <a:avLst/>
          </a:prstGeom>
        </p:spPr>
      </p:pic>
      <p:sp>
        <p:nvSpPr>
          <p:cNvPr id="147" name="Google Shape;147;p8"/>
          <p:cNvSpPr txBox="1"/>
          <p:nvPr/>
        </p:nvSpPr>
        <p:spPr>
          <a:xfrm>
            <a:off x="474654" y="6268720"/>
            <a:ext cx="97314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12/21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 txBox="1">
            <a:spLocks noGrp="1"/>
          </p:cNvSpPr>
          <p:nvPr>
            <p:ph type="title"/>
          </p:nvPr>
        </p:nvSpPr>
        <p:spPr>
          <a:xfrm>
            <a:off x="787399" y="180975"/>
            <a:ext cx="1034732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4000"/>
            </a:pPr>
            <a:r>
              <a:rPr lang="ru-RU" sz="4000" b="1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Выбор моделей рекомендаций</a:t>
            </a:r>
            <a:endParaRPr sz="4000" b="1" dirty="0">
              <a:solidFill>
                <a:schemeClr val="bg1"/>
              </a:solidFill>
              <a:sym typeface="Calibri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685799" y="1438274"/>
            <a:ext cx="987742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0" i="0" dirty="0" smtClean="0">
                <a:solidFill>
                  <a:srgbClr val="1F1F1F"/>
                </a:solidFill>
                <a:effectLst/>
                <a:latin typeface="Google Sans Text"/>
              </a:rPr>
              <a:t> По результатам 5 Лабораторных  работ, лучшие метрики показала работа с </a:t>
            </a:r>
            <a:r>
              <a:rPr lang="en-US" sz="2400" dirty="0" err="1">
                <a:solidFill>
                  <a:srgbClr val="1F1F1F"/>
                </a:solidFill>
                <a:latin typeface="Google Sans Text"/>
              </a:rPr>
              <a:t>I</a:t>
            </a:r>
            <a:r>
              <a:rPr lang="en-US" sz="2400" b="0" i="0" dirty="0" err="1" smtClean="0">
                <a:solidFill>
                  <a:srgbClr val="1F1F1F"/>
                </a:solidFill>
                <a:effectLst/>
                <a:latin typeface="Google Sans Text"/>
              </a:rPr>
              <a:t>temsKNN</a:t>
            </a:r>
            <a:r>
              <a:rPr lang="en-US" sz="2400" b="0" i="0" dirty="0" smtClean="0">
                <a:solidFill>
                  <a:srgbClr val="1F1F1F"/>
                </a:solidFill>
                <a:effectLst/>
                <a:latin typeface="Google Sans Text"/>
              </a:rPr>
              <a:t> </a:t>
            </a:r>
            <a:r>
              <a:rPr lang="ru-RU" sz="2400" b="0" i="0" dirty="0" smtClean="0">
                <a:solidFill>
                  <a:srgbClr val="1F1F1F"/>
                </a:solidFill>
                <a:effectLst/>
                <a:latin typeface="Google Sans Text"/>
              </a:rPr>
              <a:t>и </a:t>
            </a:r>
            <a:r>
              <a:rPr lang="en-US" sz="2400" b="0" i="0" dirty="0" err="1" smtClean="0">
                <a:solidFill>
                  <a:srgbClr val="1F1F1F"/>
                </a:solidFill>
                <a:effectLst/>
                <a:latin typeface="Google Sans Text"/>
              </a:rPr>
              <a:t>UsersKNN</a:t>
            </a:r>
            <a:r>
              <a:rPr lang="en-US" sz="2400" b="0" i="0" dirty="0" smtClean="0">
                <a:solidFill>
                  <a:srgbClr val="1F1F1F"/>
                </a:solidFill>
                <a:effectLst/>
                <a:latin typeface="Google Sans Text"/>
              </a:rPr>
              <a:t>, </a:t>
            </a:r>
            <a:r>
              <a:rPr lang="ru-RU" sz="2400" b="0" i="0" dirty="0" smtClean="0">
                <a:solidFill>
                  <a:srgbClr val="1F1F1F"/>
                </a:solidFill>
                <a:effectLst/>
                <a:latin typeface="Google Sans Text"/>
              </a:rPr>
              <a:t>поэтому для дальнейшей работы будет использоваться совмещенный алгоритм</a:t>
            </a:r>
            <a:endParaRPr lang="ru-RU" sz="2400" b="0" i="0" dirty="0">
              <a:solidFill>
                <a:srgbClr val="1F1F1F"/>
              </a:solidFill>
              <a:effectLst/>
              <a:latin typeface="Google Sans Text"/>
            </a:endParaRPr>
          </a:p>
        </p:txBody>
      </p:sp>
    </p:spTree>
    <p:extLst>
      <p:ext uri="{BB962C8B-B14F-4D97-AF65-F5344CB8AC3E}">
        <p14:creationId xmlns:p14="http://schemas.microsoft.com/office/powerpoint/2010/main" val="38405072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66750" y="384178"/>
            <a:ext cx="14401800" cy="933450"/>
          </a:xfrm>
          <a:prstGeom prst="rect">
            <a:avLst/>
          </a:prstGeom>
        </p:spPr>
      </p:pic>
      <p:sp>
        <p:nvSpPr>
          <p:cNvPr id="147" name="Google Shape;147;p8"/>
          <p:cNvSpPr txBox="1"/>
          <p:nvPr/>
        </p:nvSpPr>
        <p:spPr>
          <a:xfrm>
            <a:off x="474654" y="6268720"/>
            <a:ext cx="97314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13/21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 txBox="1">
            <a:spLocks noGrp="1"/>
          </p:cNvSpPr>
          <p:nvPr>
            <p:ph type="title"/>
          </p:nvPr>
        </p:nvSpPr>
        <p:spPr>
          <a:xfrm>
            <a:off x="787399" y="180975"/>
            <a:ext cx="1034732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4000"/>
            </a:pPr>
            <a:r>
              <a:rPr lang="ru-RU" sz="4000" b="1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Описание алгоритма</a:t>
            </a:r>
            <a:endParaRPr sz="4000" b="1" dirty="0">
              <a:solidFill>
                <a:schemeClr val="bg1"/>
              </a:solidFill>
              <a:sym typeface="Calibri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685799" y="1438274"/>
            <a:ext cx="987742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smtClean="0">
                <a:solidFill>
                  <a:srgbClr val="1F1F1F"/>
                </a:solidFill>
                <a:latin typeface="Google Sans Text"/>
              </a:rPr>
              <a:t>Рекомендательная система работает для людей, у которых в тестовых данных более 5 просмотренных фильмов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smtClean="0">
                <a:solidFill>
                  <a:srgbClr val="1F1F1F"/>
                </a:solidFill>
                <a:latin typeface="Google Sans Text"/>
              </a:rPr>
              <a:t>Если у пользователя нету </a:t>
            </a:r>
            <a:r>
              <a:rPr lang="ru-RU" sz="2400" dirty="0" smtClean="0">
                <a:solidFill>
                  <a:srgbClr val="1F1F1F"/>
                </a:solidFill>
                <a:latin typeface="Google Sans Text"/>
              </a:rPr>
              <a:t>взаимодействий</a:t>
            </a:r>
            <a:r>
              <a:rPr lang="ru-RU" sz="2400" dirty="0" smtClean="0">
                <a:solidFill>
                  <a:srgbClr val="1F1F1F"/>
                </a:solidFill>
                <a:latin typeface="Google Sans Text"/>
              </a:rPr>
              <a:t> в тренировочных данных, </a:t>
            </a:r>
            <a:r>
              <a:rPr lang="ru-RU" sz="2400" dirty="0">
                <a:solidFill>
                  <a:srgbClr val="1F1F1F"/>
                </a:solidFill>
                <a:latin typeface="Google Sans Text"/>
              </a:rPr>
              <a:t>то в качестве </a:t>
            </a:r>
            <a:r>
              <a:rPr lang="en-US" sz="2400" dirty="0" smtClean="0">
                <a:solidFill>
                  <a:srgbClr val="1F1F1F"/>
                </a:solidFill>
                <a:latin typeface="Google Sans Text"/>
              </a:rPr>
              <a:t>“</a:t>
            </a:r>
            <a:r>
              <a:rPr lang="ru-RU" sz="2400" dirty="0" smtClean="0">
                <a:solidFill>
                  <a:srgbClr val="1F1F1F"/>
                </a:solidFill>
                <a:latin typeface="Google Sans Text"/>
              </a:rPr>
              <a:t>холодного старта</a:t>
            </a:r>
            <a:r>
              <a:rPr lang="en-US" sz="2400" dirty="0" smtClean="0">
                <a:solidFill>
                  <a:srgbClr val="1F1F1F"/>
                </a:solidFill>
                <a:latin typeface="Google Sans Text"/>
              </a:rPr>
              <a:t>”</a:t>
            </a:r>
            <a:r>
              <a:rPr lang="ru-RU" sz="2400" dirty="0" smtClean="0">
                <a:solidFill>
                  <a:srgbClr val="1F1F1F"/>
                </a:solidFill>
                <a:latin typeface="Google Sans Text"/>
              </a:rPr>
              <a:t> ему рекомендуются самые популярные фильмы, а</a:t>
            </a:r>
            <a:r>
              <a:rPr lang="ru-RU" sz="2400" dirty="0">
                <a:solidFill>
                  <a:srgbClr val="1F1F1F"/>
                </a:solidFill>
                <a:latin typeface="Google Sans Text"/>
              </a:rPr>
              <a:t> </a:t>
            </a:r>
            <a:r>
              <a:rPr lang="ru-RU" sz="2400" dirty="0" smtClean="0">
                <a:solidFill>
                  <a:srgbClr val="1F1F1F"/>
                </a:solidFill>
                <a:latin typeface="Google Sans Text"/>
              </a:rPr>
              <a:t>если в рекомендациях не набралось k экземпляров, дополняем их популярными из того же списка </a:t>
            </a:r>
            <a:r>
              <a:rPr lang="en-US" sz="2400" dirty="0" smtClean="0">
                <a:solidFill>
                  <a:srgbClr val="1F1F1F"/>
                </a:solidFill>
                <a:latin typeface="Google Sans Text"/>
              </a:rPr>
              <a:t>“</a:t>
            </a:r>
            <a:r>
              <a:rPr lang="ru-RU" sz="2400" dirty="0" smtClean="0">
                <a:solidFill>
                  <a:srgbClr val="1F1F1F"/>
                </a:solidFill>
                <a:latin typeface="Google Sans Text"/>
              </a:rPr>
              <a:t>холодного старта</a:t>
            </a:r>
            <a:r>
              <a:rPr lang="en-US" sz="2400" dirty="0" smtClean="0">
                <a:solidFill>
                  <a:srgbClr val="1F1F1F"/>
                </a:solidFill>
                <a:latin typeface="Google Sans Text"/>
              </a:rPr>
              <a:t>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smtClean="0">
                <a:solidFill>
                  <a:srgbClr val="1F1F1F"/>
                </a:solidFill>
                <a:latin typeface="Google Sans Text"/>
              </a:rPr>
              <a:t>Иначе применяется алгоритм основанный на </a:t>
            </a:r>
            <a:r>
              <a:rPr lang="en-US" sz="2400" dirty="0" err="1" smtClean="0">
                <a:solidFill>
                  <a:srgbClr val="1F1F1F"/>
                </a:solidFill>
                <a:latin typeface="Google Sans Text"/>
              </a:rPr>
              <a:t>user</a:t>
            </a:r>
            <a:r>
              <a:rPr lang="en-US" sz="2400" dirty="0" err="1">
                <a:solidFill>
                  <a:srgbClr val="1F1F1F"/>
                </a:solidFill>
                <a:latin typeface="Google Sans Text"/>
              </a:rPr>
              <a:t>s</a:t>
            </a:r>
            <a:r>
              <a:rPr lang="en-US" sz="2400" dirty="0" err="1" smtClean="0">
                <a:solidFill>
                  <a:srgbClr val="1F1F1F"/>
                </a:solidFill>
                <a:latin typeface="Google Sans Text"/>
              </a:rPr>
              <a:t>KNN</a:t>
            </a:r>
            <a:r>
              <a:rPr lang="en-US" sz="2400" dirty="0" smtClean="0">
                <a:solidFill>
                  <a:srgbClr val="1F1F1F"/>
                </a:solidFill>
                <a:latin typeface="Google Sans Text"/>
              </a:rPr>
              <a:t> </a:t>
            </a:r>
            <a:r>
              <a:rPr lang="ru-RU" sz="2400" dirty="0" smtClean="0">
                <a:solidFill>
                  <a:srgbClr val="1F1F1F"/>
                </a:solidFill>
                <a:latin typeface="Google Sans Text"/>
              </a:rPr>
              <a:t>и </a:t>
            </a:r>
            <a:r>
              <a:rPr lang="en-US" sz="2400" dirty="0" err="1" smtClean="0">
                <a:solidFill>
                  <a:srgbClr val="1F1F1F"/>
                </a:solidFill>
                <a:latin typeface="Google Sans Text"/>
              </a:rPr>
              <a:t>itemsKNN</a:t>
            </a:r>
            <a:endParaRPr lang="ru-RU" sz="2400" dirty="0" smtClean="0">
              <a:solidFill>
                <a:srgbClr val="1F1F1F"/>
              </a:solidFill>
              <a:latin typeface="Google Sans Text"/>
            </a:endParaRPr>
          </a:p>
        </p:txBody>
      </p:sp>
    </p:spTree>
    <p:extLst>
      <p:ext uri="{BB962C8B-B14F-4D97-AF65-F5344CB8AC3E}">
        <p14:creationId xmlns:p14="http://schemas.microsoft.com/office/powerpoint/2010/main" val="1186147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66750" y="384178"/>
            <a:ext cx="14401800" cy="933450"/>
          </a:xfrm>
          <a:prstGeom prst="rect">
            <a:avLst/>
          </a:prstGeom>
        </p:spPr>
      </p:pic>
      <p:sp>
        <p:nvSpPr>
          <p:cNvPr id="147" name="Google Shape;147;p8"/>
          <p:cNvSpPr txBox="1"/>
          <p:nvPr/>
        </p:nvSpPr>
        <p:spPr>
          <a:xfrm>
            <a:off x="474654" y="6268720"/>
            <a:ext cx="97314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14/21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 txBox="1">
            <a:spLocks noGrp="1"/>
          </p:cNvSpPr>
          <p:nvPr>
            <p:ph type="title"/>
          </p:nvPr>
        </p:nvSpPr>
        <p:spPr>
          <a:xfrm>
            <a:off x="787399" y="180975"/>
            <a:ext cx="1034732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4000"/>
            </a:pPr>
            <a:r>
              <a:rPr lang="ru-RU" sz="4000" b="1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Описание алгоритма</a:t>
            </a:r>
            <a:endParaRPr sz="4000" b="1" dirty="0">
              <a:solidFill>
                <a:schemeClr val="bg1"/>
              </a:solidFill>
              <a:sym typeface="Calibri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685799" y="1438274"/>
            <a:ext cx="987742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smtClean="0">
                <a:solidFill>
                  <a:srgbClr val="1F1F1F"/>
                </a:solidFill>
                <a:latin typeface="Google Sans Text"/>
              </a:rPr>
              <a:t>Алгоритм делится на две части</a:t>
            </a:r>
            <a:r>
              <a:rPr lang="en-US" sz="2400" dirty="0" smtClean="0">
                <a:solidFill>
                  <a:srgbClr val="1F1F1F"/>
                </a:solidFill>
                <a:latin typeface="Google Sans Text"/>
              </a:rPr>
              <a:t>: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sz="2400" dirty="0" smtClean="0">
                <a:solidFill>
                  <a:srgbClr val="1F1F1F"/>
                </a:solidFill>
                <a:latin typeface="Google Sans Text"/>
              </a:rPr>
              <a:t>Поиск похожих пользователей по </a:t>
            </a:r>
            <a:r>
              <a:rPr lang="en-US" sz="2400" dirty="0" err="1" smtClean="0">
                <a:solidFill>
                  <a:srgbClr val="1F1F1F"/>
                </a:solidFill>
                <a:latin typeface="Google Sans Text"/>
              </a:rPr>
              <a:t>userKNN</a:t>
            </a:r>
            <a:endParaRPr lang="ru-RU" sz="2400" dirty="0" smtClean="0">
              <a:solidFill>
                <a:srgbClr val="1F1F1F"/>
              </a:solidFill>
              <a:latin typeface="Google Sans Text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ru-RU" sz="2400" dirty="0" smtClean="0">
                <a:solidFill>
                  <a:srgbClr val="1F1F1F"/>
                </a:solidFill>
                <a:latin typeface="Google Sans Text"/>
              </a:rPr>
              <a:t>У найденных пользователей поиск схожих </a:t>
            </a:r>
            <a:r>
              <a:rPr lang="en-US" sz="2400" dirty="0" smtClean="0">
                <a:solidFill>
                  <a:srgbClr val="1F1F1F"/>
                </a:solidFill>
                <a:latin typeface="Google Sans Text"/>
              </a:rPr>
              <a:t>Items </a:t>
            </a:r>
            <a:r>
              <a:rPr lang="ru-RU" sz="2400" dirty="0" smtClean="0">
                <a:solidFill>
                  <a:srgbClr val="1F1F1F"/>
                </a:solidFill>
                <a:latin typeface="Google Sans Text"/>
              </a:rPr>
              <a:t>с данными из тренировочного набора рассматриваемого пользователя</a:t>
            </a:r>
            <a:endParaRPr lang="en-US" sz="2400" dirty="0" smtClean="0">
              <a:solidFill>
                <a:srgbClr val="1F1F1F"/>
              </a:solidFill>
              <a:latin typeface="Google Sans Tex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 smtClean="0">
              <a:solidFill>
                <a:srgbClr val="1F1F1F"/>
              </a:solidFill>
              <a:latin typeface="Google Sans Text"/>
            </a:endParaRPr>
          </a:p>
        </p:txBody>
      </p:sp>
    </p:spTree>
    <p:extLst>
      <p:ext uri="{BB962C8B-B14F-4D97-AF65-F5344CB8AC3E}">
        <p14:creationId xmlns:p14="http://schemas.microsoft.com/office/powerpoint/2010/main" val="23412774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66750" y="384178"/>
            <a:ext cx="14401800" cy="933450"/>
          </a:xfrm>
          <a:prstGeom prst="rect">
            <a:avLst/>
          </a:prstGeom>
        </p:spPr>
      </p:pic>
      <p:sp>
        <p:nvSpPr>
          <p:cNvPr id="147" name="Google Shape;147;p8"/>
          <p:cNvSpPr txBox="1"/>
          <p:nvPr/>
        </p:nvSpPr>
        <p:spPr>
          <a:xfrm>
            <a:off x="474654" y="6268720"/>
            <a:ext cx="97314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15/21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 txBox="1">
            <a:spLocks noGrp="1"/>
          </p:cNvSpPr>
          <p:nvPr>
            <p:ph type="title"/>
          </p:nvPr>
        </p:nvSpPr>
        <p:spPr>
          <a:xfrm>
            <a:off x="787399" y="180975"/>
            <a:ext cx="1034732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4000"/>
            </a:pPr>
            <a:r>
              <a:rPr lang="ru-RU" sz="4000" b="1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Описание 1й части алгоритма</a:t>
            </a:r>
            <a:endParaRPr sz="4000" b="1" dirty="0">
              <a:solidFill>
                <a:schemeClr val="bg1"/>
              </a:solidFill>
              <a:sym typeface="Calibri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685799" y="1438274"/>
            <a:ext cx="9553576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457200">
              <a:buFont typeface="+mj-lt"/>
              <a:buAutoNum type="arabicPeriod"/>
            </a:pPr>
            <a:r>
              <a:rPr lang="ru-RU" dirty="0" smtClean="0">
                <a:solidFill>
                  <a:srgbClr val="1F1F1F"/>
                </a:solidFill>
                <a:latin typeface="Google Sans Text"/>
              </a:rPr>
              <a:t>Собираем </a:t>
            </a:r>
            <a:r>
              <a:rPr lang="en-US" dirty="0" smtClean="0">
                <a:solidFill>
                  <a:srgbClr val="1F1F1F"/>
                </a:solidFill>
                <a:latin typeface="Google Sans Text"/>
              </a:rPr>
              <a:t>id </a:t>
            </a:r>
            <a:r>
              <a:rPr lang="ru-RU" dirty="0" smtClean="0">
                <a:solidFill>
                  <a:srgbClr val="1F1F1F"/>
                </a:solidFill>
                <a:latin typeface="Google Sans Text"/>
              </a:rPr>
              <a:t>всех пользователей, кроме рассматриваемого и добавляем первым столбцом в новую таблицу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dirty="0" smtClean="0">
                <a:solidFill>
                  <a:srgbClr val="1F1F1F"/>
                </a:solidFill>
                <a:latin typeface="Google Sans Text"/>
              </a:rPr>
              <a:t>В </a:t>
            </a:r>
            <a:r>
              <a:rPr lang="ru-RU" dirty="0">
                <a:solidFill>
                  <a:srgbClr val="1F1F1F"/>
                </a:solidFill>
                <a:latin typeface="Google Sans Text"/>
              </a:rPr>
              <a:t>переменную </a:t>
            </a:r>
            <a:r>
              <a:rPr lang="en-US" i="1" dirty="0" err="1">
                <a:solidFill>
                  <a:srgbClr val="1F1F1F"/>
                </a:solidFill>
                <a:latin typeface="Google Sans Text"/>
              </a:rPr>
              <a:t>isActualInfoCondition</a:t>
            </a:r>
            <a:r>
              <a:rPr lang="ru-RU" dirty="0">
                <a:solidFill>
                  <a:srgbClr val="1F1F1F"/>
                </a:solidFill>
                <a:latin typeface="Google Sans Text"/>
              </a:rPr>
              <a:t> </a:t>
            </a:r>
            <a:r>
              <a:rPr lang="ru-RU" dirty="0" smtClean="0">
                <a:solidFill>
                  <a:srgbClr val="1F1F1F"/>
                </a:solidFill>
                <a:latin typeface="Google Sans Text"/>
              </a:rPr>
              <a:t>записывается актуальность взаимодействия (в рамках от текущего 30 дней), если взаимодействие неактуальное, то в следующих условиях этот юзер не используется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dirty="0" smtClean="0">
                <a:solidFill>
                  <a:srgbClr val="1F1F1F"/>
                </a:solidFill>
                <a:latin typeface="Google Sans Text"/>
              </a:rPr>
              <a:t>Далее сравниваются </a:t>
            </a:r>
            <a:r>
              <a:rPr lang="en-US" dirty="0">
                <a:solidFill>
                  <a:srgbClr val="1F1F1F"/>
                </a:solidFill>
                <a:latin typeface="Google Sans Text"/>
              </a:rPr>
              <a:t>[</a:t>
            </a:r>
            <a:r>
              <a:rPr lang="ru-RU" dirty="0" smtClean="0">
                <a:solidFill>
                  <a:srgbClr val="1F1F1F"/>
                </a:solidFill>
                <a:latin typeface="Google Sans Text"/>
              </a:rPr>
              <a:t>Пол пользователя, его возрастная группа, его группа по заработку</a:t>
            </a:r>
            <a:r>
              <a:rPr lang="en-US" dirty="0" smtClean="0">
                <a:solidFill>
                  <a:srgbClr val="1F1F1F"/>
                </a:solidFill>
                <a:latin typeface="Google Sans Text"/>
              </a:rPr>
              <a:t>]</a:t>
            </a:r>
            <a:r>
              <a:rPr lang="ru-RU" dirty="0" smtClean="0">
                <a:solidFill>
                  <a:srgbClr val="1F1F1F"/>
                </a:solidFill>
                <a:latin typeface="Google Sans Text"/>
              </a:rPr>
              <a:t>, для каждого успешного совпадения с рассматриваемым пользователем присваиваются коэффициенты </a:t>
            </a:r>
            <a:r>
              <a:rPr lang="en-US" dirty="0" smtClean="0">
                <a:solidFill>
                  <a:srgbClr val="1F1F1F"/>
                </a:solidFill>
                <a:latin typeface="Google Sans Text"/>
              </a:rPr>
              <a:t>[0.4, 0.35, 0.25] </a:t>
            </a:r>
            <a:r>
              <a:rPr lang="ru-RU" dirty="0" smtClean="0">
                <a:solidFill>
                  <a:srgbClr val="1F1F1F"/>
                </a:solidFill>
                <a:latin typeface="Google Sans Text"/>
              </a:rPr>
              <a:t>соответственно, в случае несовпадения в какому либо условию присваивается коэффициент 0.01. Таким образом суммарный коэффициент схожести равняется 1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dirty="0" smtClean="0">
                <a:solidFill>
                  <a:srgbClr val="1F1F1F"/>
                </a:solidFill>
                <a:latin typeface="Google Sans Text"/>
              </a:rPr>
              <a:t>Все коэффициенты для рассматриваемого пользователя складываются и записываются в столбик, название которого – фильм из тренировочных данных.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dirty="0" smtClean="0">
                <a:solidFill>
                  <a:srgbClr val="1F1F1F"/>
                </a:solidFill>
                <a:latin typeface="Google Sans Text"/>
              </a:rPr>
              <a:t>Складываются коэффициенты для всех фильмов и сортируются по убыванию, заранее отбрасываются те пользователи, чей общий коэффициент меньше 1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dirty="0" smtClean="0">
                <a:solidFill>
                  <a:srgbClr val="1F1F1F"/>
                </a:solidFill>
                <a:latin typeface="Google Sans Text"/>
              </a:rPr>
              <a:t>У оставшихся пользователей списка берутся их просмотренные фильмы</a:t>
            </a:r>
          </a:p>
          <a:p>
            <a:pPr lvl="1"/>
            <a:endParaRPr lang="ru-RU" dirty="0">
              <a:solidFill>
                <a:srgbClr val="1F1F1F"/>
              </a:solidFill>
              <a:latin typeface="Google Sans Tex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 smtClean="0">
              <a:solidFill>
                <a:srgbClr val="1F1F1F"/>
              </a:solidFill>
              <a:latin typeface="Google Sans Text"/>
            </a:endParaRPr>
          </a:p>
        </p:txBody>
      </p:sp>
    </p:spTree>
    <p:extLst>
      <p:ext uri="{BB962C8B-B14F-4D97-AF65-F5344CB8AC3E}">
        <p14:creationId xmlns:p14="http://schemas.microsoft.com/office/powerpoint/2010/main" val="38135888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66750" y="384178"/>
            <a:ext cx="14401800" cy="933450"/>
          </a:xfrm>
          <a:prstGeom prst="rect">
            <a:avLst/>
          </a:prstGeom>
        </p:spPr>
      </p:pic>
      <p:sp>
        <p:nvSpPr>
          <p:cNvPr id="147" name="Google Shape;147;p8"/>
          <p:cNvSpPr txBox="1"/>
          <p:nvPr/>
        </p:nvSpPr>
        <p:spPr>
          <a:xfrm>
            <a:off x="474654" y="6268720"/>
            <a:ext cx="97314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16/21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 txBox="1">
            <a:spLocks noGrp="1"/>
          </p:cNvSpPr>
          <p:nvPr>
            <p:ph type="title"/>
          </p:nvPr>
        </p:nvSpPr>
        <p:spPr>
          <a:xfrm>
            <a:off x="787399" y="180975"/>
            <a:ext cx="10347325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spcBef>
                <a:spcPts val="0"/>
              </a:spcBef>
              <a:buClr>
                <a:schemeClr val="dk1"/>
              </a:buClr>
              <a:buSzPts val="4000"/>
            </a:pPr>
            <a:r>
              <a:rPr lang="ru-RU" sz="4000" b="1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Описание 2й части алгоритма</a:t>
            </a:r>
            <a:endParaRPr sz="4000" b="1" dirty="0">
              <a:solidFill>
                <a:schemeClr val="bg1"/>
              </a:solidFill>
              <a:sym typeface="Calibri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685799" y="1438274"/>
            <a:ext cx="9553576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457200">
              <a:buFont typeface="+mj-lt"/>
              <a:buAutoNum type="arabicPeriod"/>
            </a:pPr>
            <a:r>
              <a:rPr lang="ru-RU" dirty="0" smtClean="0">
                <a:solidFill>
                  <a:srgbClr val="1F1F1F"/>
                </a:solidFill>
                <a:latin typeface="Google Sans Text"/>
              </a:rPr>
              <a:t>Из списка, полученного в первой части берем </a:t>
            </a:r>
            <a:r>
              <a:rPr lang="en-US" dirty="0" smtClean="0">
                <a:solidFill>
                  <a:srgbClr val="1F1F1F"/>
                </a:solidFill>
                <a:latin typeface="Google Sans Text"/>
              </a:rPr>
              <a:t>id </a:t>
            </a:r>
            <a:r>
              <a:rPr lang="ru-RU" dirty="0" smtClean="0">
                <a:solidFill>
                  <a:srgbClr val="1F1F1F"/>
                </a:solidFill>
                <a:latin typeface="Google Sans Text"/>
              </a:rPr>
              <a:t>фильмов, которые не использовались как наименования столбцов и записываем в новую таблицу первым столбцом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dirty="0" smtClean="0">
                <a:solidFill>
                  <a:srgbClr val="1F1F1F"/>
                </a:solidFill>
                <a:latin typeface="Google Sans Text"/>
              </a:rPr>
              <a:t>Далее сравниваются </a:t>
            </a:r>
            <a:r>
              <a:rPr lang="en-US" dirty="0" smtClean="0">
                <a:solidFill>
                  <a:srgbClr val="1F1F1F"/>
                </a:solidFill>
                <a:latin typeface="Google Sans Text"/>
              </a:rPr>
              <a:t>[</a:t>
            </a:r>
            <a:r>
              <a:rPr lang="ru-RU" dirty="0" smtClean="0">
                <a:solidFill>
                  <a:srgbClr val="1F1F1F"/>
                </a:solidFill>
                <a:latin typeface="Google Sans Text"/>
              </a:rPr>
              <a:t>Схожесть хотя бы одного жанра, рамки выхода фильма +-15 лет, Схожесть хотя бы одного актера, Схожесть хотя бы одной выпускающей страны, Схожесть хотя бы одного режиссера</a:t>
            </a:r>
            <a:r>
              <a:rPr lang="en-US" dirty="0" smtClean="0">
                <a:solidFill>
                  <a:srgbClr val="1F1F1F"/>
                </a:solidFill>
                <a:latin typeface="Google Sans Text"/>
              </a:rPr>
              <a:t>]</a:t>
            </a:r>
            <a:r>
              <a:rPr lang="ru-RU" dirty="0" smtClean="0">
                <a:solidFill>
                  <a:srgbClr val="1F1F1F"/>
                </a:solidFill>
                <a:latin typeface="Google Sans Text"/>
              </a:rPr>
              <a:t>, для каждого успешного совпадения с рассматриваемым пользователем присваиваются коэффициенты </a:t>
            </a:r>
            <a:r>
              <a:rPr lang="en-US" dirty="0" smtClean="0">
                <a:solidFill>
                  <a:srgbClr val="1F1F1F"/>
                </a:solidFill>
                <a:latin typeface="Google Sans Text"/>
              </a:rPr>
              <a:t>[0.</a:t>
            </a:r>
            <a:r>
              <a:rPr lang="ru-RU" dirty="0" smtClean="0">
                <a:solidFill>
                  <a:srgbClr val="1F1F1F"/>
                </a:solidFill>
                <a:latin typeface="Google Sans Text"/>
              </a:rPr>
              <a:t>2</a:t>
            </a:r>
            <a:r>
              <a:rPr lang="en-US" dirty="0" smtClean="0">
                <a:solidFill>
                  <a:srgbClr val="1F1F1F"/>
                </a:solidFill>
                <a:latin typeface="Google Sans Text"/>
              </a:rPr>
              <a:t>, </a:t>
            </a:r>
            <a:r>
              <a:rPr lang="ru-RU" dirty="0" smtClean="0">
                <a:solidFill>
                  <a:srgbClr val="1F1F1F"/>
                </a:solidFill>
                <a:latin typeface="Google Sans Text"/>
              </a:rPr>
              <a:t>0.2, 0.15 </a:t>
            </a:r>
            <a:r>
              <a:rPr lang="en-US" dirty="0" smtClean="0">
                <a:solidFill>
                  <a:srgbClr val="1F1F1F"/>
                </a:solidFill>
                <a:latin typeface="Google Sans Text"/>
              </a:rPr>
              <a:t>0.35</a:t>
            </a:r>
            <a:r>
              <a:rPr lang="ru-RU" dirty="0" smtClean="0">
                <a:solidFill>
                  <a:srgbClr val="1F1F1F"/>
                </a:solidFill>
                <a:latin typeface="Google Sans Text"/>
              </a:rPr>
              <a:t>, 0.1</a:t>
            </a:r>
            <a:r>
              <a:rPr lang="en-US" dirty="0" smtClean="0">
                <a:solidFill>
                  <a:srgbClr val="1F1F1F"/>
                </a:solidFill>
                <a:latin typeface="Google Sans Text"/>
              </a:rPr>
              <a:t>] </a:t>
            </a:r>
            <a:r>
              <a:rPr lang="ru-RU" dirty="0" smtClean="0">
                <a:solidFill>
                  <a:srgbClr val="1F1F1F"/>
                </a:solidFill>
                <a:latin typeface="Google Sans Text"/>
              </a:rPr>
              <a:t>соответственно, в случае несовпадения в какому либо условию присваивается коэффициент 0. Таким образом суммарный коэффициент схожести равняется 1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dirty="0" smtClean="0">
                <a:solidFill>
                  <a:srgbClr val="1F1F1F"/>
                </a:solidFill>
                <a:latin typeface="Google Sans Text"/>
              </a:rPr>
              <a:t>Все коэффициенты для рассматриваемого фильма складываются и записываются в столбик, название которого – фильм из тренировочных данных.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dirty="0" smtClean="0">
                <a:solidFill>
                  <a:srgbClr val="1F1F1F"/>
                </a:solidFill>
                <a:latin typeface="Google Sans Text"/>
              </a:rPr>
              <a:t>Складываются коэффициенты для всех фильмов и сортируются по убыванию, заранее отбрасываются те пользователи, чей общий коэффициент меньше 1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dirty="0" smtClean="0">
                <a:solidFill>
                  <a:srgbClr val="1F1F1F"/>
                </a:solidFill>
                <a:latin typeface="Google Sans Text"/>
              </a:rPr>
              <a:t>Берутся первые </a:t>
            </a:r>
            <a:r>
              <a:rPr lang="en-US" dirty="0" smtClean="0">
                <a:solidFill>
                  <a:srgbClr val="1F1F1F"/>
                </a:solidFill>
                <a:latin typeface="Google Sans Text"/>
              </a:rPr>
              <a:t>k </a:t>
            </a:r>
            <a:r>
              <a:rPr lang="ru-RU" dirty="0" smtClean="0">
                <a:solidFill>
                  <a:srgbClr val="1F1F1F"/>
                </a:solidFill>
                <a:latin typeface="Google Sans Text"/>
              </a:rPr>
              <a:t>фильмов для рекомендации</a:t>
            </a:r>
            <a:endParaRPr lang="ru-RU" dirty="0" smtClean="0">
              <a:solidFill>
                <a:srgbClr val="1F1F1F"/>
              </a:solidFill>
              <a:latin typeface="Google Sans Text"/>
            </a:endParaRPr>
          </a:p>
          <a:p>
            <a:pPr lvl="1"/>
            <a:endParaRPr lang="ru-RU" dirty="0">
              <a:solidFill>
                <a:srgbClr val="1F1F1F"/>
              </a:solidFill>
              <a:latin typeface="Google Sans Text"/>
            </a:endParaRPr>
          </a:p>
          <a:p>
            <a:pPr marL="914400" lvl="1" indent="-457200">
              <a:buFont typeface="+mj-lt"/>
              <a:buAutoNum type="arabicPeriod"/>
            </a:pPr>
            <a:endParaRPr lang="en-US" dirty="0" smtClean="0">
              <a:solidFill>
                <a:srgbClr val="1F1F1F"/>
              </a:solidFill>
              <a:latin typeface="Google Sans Text"/>
            </a:endParaRPr>
          </a:p>
        </p:txBody>
      </p:sp>
    </p:spTree>
    <p:extLst>
      <p:ext uri="{BB962C8B-B14F-4D97-AF65-F5344CB8AC3E}">
        <p14:creationId xmlns:p14="http://schemas.microsoft.com/office/powerpoint/2010/main" val="26580761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66750" y="384178"/>
            <a:ext cx="14401800" cy="933450"/>
          </a:xfrm>
          <a:prstGeom prst="rect">
            <a:avLst/>
          </a:prstGeom>
        </p:spPr>
      </p:pic>
      <p:sp>
        <p:nvSpPr>
          <p:cNvPr id="154" name="Google Shape;154;p9"/>
          <p:cNvSpPr txBox="1">
            <a:spLocks noGrp="1"/>
          </p:cNvSpPr>
          <p:nvPr>
            <p:ph type="title"/>
          </p:nvPr>
        </p:nvSpPr>
        <p:spPr>
          <a:xfrm>
            <a:off x="787401" y="1619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ru-RU" sz="3200" b="1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Примеры рекомендаций</a:t>
            </a:r>
            <a:endParaRPr sz="3600" b="1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 txBox="1"/>
          <p:nvPr/>
        </p:nvSpPr>
        <p:spPr>
          <a:xfrm>
            <a:off x="474655" y="6268720"/>
            <a:ext cx="969134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17/21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01" y="1496444"/>
            <a:ext cx="6743700" cy="4210050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787401" y="5706494"/>
            <a:ext cx="419607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0" i="0" dirty="0" smtClean="0">
                <a:solidFill>
                  <a:srgbClr val="1F1F1F"/>
                </a:solidFill>
                <a:effectLst/>
                <a:latin typeface="Google Sans Text"/>
              </a:rPr>
              <a:t>Пример холодного старта</a:t>
            </a:r>
            <a:endParaRPr lang="ru-RU" sz="2400" b="0" i="0" dirty="0">
              <a:solidFill>
                <a:srgbClr val="1F1F1F"/>
              </a:solidFill>
              <a:effectLst/>
              <a:latin typeface="Google Sans Text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4150" y="2148906"/>
            <a:ext cx="5086350" cy="2905125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6471921" y="5696333"/>
            <a:ext cx="419607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0" i="0" dirty="0" smtClean="0">
                <a:solidFill>
                  <a:srgbClr val="1F1F1F"/>
                </a:solidFill>
                <a:effectLst/>
                <a:latin typeface="Google Sans Text"/>
              </a:rPr>
              <a:t>Пример предсказания по алгоритму</a:t>
            </a:r>
            <a:endParaRPr lang="ru-RU" sz="2400" b="0" i="0" dirty="0">
              <a:solidFill>
                <a:srgbClr val="1F1F1F"/>
              </a:solidFill>
              <a:effectLst/>
              <a:latin typeface="Google Sans Text"/>
            </a:endParaRPr>
          </a:p>
        </p:txBody>
      </p:sp>
    </p:spTree>
    <p:extLst>
      <p:ext uri="{BB962C8B-B14F-4D97-AF65-F5344CB8AC3E}">
        <p14:creationId xmlns:p14="http://schemas.microsoft.com/office/powerpoint/2010/main" val="24745943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66750" y="384178"/>
            <a:ext cx="14401800" cy="933450"/>
          </a:xfrm>
          <a:prstGeom prst="rect">
            <a:avLst/>
          </a:prstGeom>
        </p:spPr>
      </p:pic>
      <p:sp>
        <p:nvSpPr>
          <p:cNvPr id="154" name="Google Shape;154;p9"/>
          <p:cNvSpPr txBox="1">
            <a:spLocks noGrp="1"/>
          </p:cNvSpPr>
          <p:nvPr>
            <p:ph type="title"/>
          </p:nvPr>
        </p:nvSpPr>
        <p:spPr>
          <a:xfrm>
            <a:off x="787401" y="1619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ru-RU" sz="3200" b="1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Анализ рекомендаций</a:t>
            </a:r>
            <a:endParaRPr sz="3600" b="1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 txBox="1"/>
          <p:nvPr/>
        </p:nvSpPr>
        <p:spPr>
          <a:xfrm>
            <a:off x="474655" y="6268720"/>
            <a:ext cx="969134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18/21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685799" y="1438274"/>
            <a:ext cx="987742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smtClean="0">
                <a:solidFill>
                  <a:srgbClr val="1F1F1F"/>
                </a:solidFill>
                <a:latin typeface="Google Sans Text"/>
              </a:rPr>
              <a:t>Примеры холодного старта показывают приемлемые результаты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smtClean="0">
                <a:solidFill>
                  <a:srgbClr val="1F1F1F"/>
                </a:solidFill>
                <a:latin typeface="Google Sans Text"/>
              </a:rPr>
              <a:t>Примеры с предсказаниями по алгоритму в большинстве случаев совпадают, но не совсем понятно как это исправить</a:t>
            </a:r>
            <a:endParaRPr lang="ru-RU" sz="2400" dirty="0">
              <a:solidFill>
                <a:srgbClr val="1F1F1F"/>
              </a:solidFill>
              <a:latin typeface="Google Sans Tex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smtClean="0">
                <a:solidFill>
                  <a:srgbClr val="1F1F1F"/>
                </a:solidFill>
                <a:latin typeface="Google Sans Text"/>
              </a:rPr>
              <a:t>Для обоих случаев в результатах </a:t>
            </a:r>
            <a:r>
              <a:rPr lang="ru-RU" sz="2400" dirty="0" err="1" smtClean="0">
                <a:solidFill>
                  <a:srgbClr val="1F1F1F"/>
                </a:solidFill>
                <a:latin typeface="Google Sans Text"/>
              </a:rPr>
              <a:t>присутсвует</a:t>
            </a:r>
            <a:r>
              <a:rPr lang="ru-RU" sz="2400" dirty="0" smtClean="0">
                <a:solidFill>
                  <a:srgbClr val="1F1F1F"/>
                </a:solidFill>
                <a:latin typeface="Google Sans Text"/>
              </a:rPr>
              <a:t> фильм без названия</a:t>
            </a:r>
          </a:p>
        </p:txBody>
      </p:sp>
    </p:spTree>
    <p:extLst>
      <p:ext uri="{BB962C8B-B14F-4D97-AF65-F5344CB8AC3E}">
        <p14:creationId xmlns:p14="http://schemas.microsoft.com/office/powerpoint/2010/main" val="41956946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66750" y="384178"/>
            <a:ext cx="14401800" cy="933450"/>
          </a:xfrm>
          <a:prstGeom prst="rect">
            <a:avLst/>
          </a:prstGeom>
        </p:spPr>
      </p:pic>
      <p:sp>
        <p:nvSpPr>
          <p:cNvPr id="154" name="Google Shape;154;p9"/>
          <p:cNvSpPr txBox="1">
            <a:spLocks noGrp="1"/>
          </p:cNvSpPr>
          <p:nvPr>
            <p:ph type="title"/>
          </p:nvPr>
        </p:nvSpPr>
        <p:spPr>
          <a:xfrm>
            <a:off x="787401" y="1619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ru-RU" sz="3200" b="1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Анализ Метрик</a:t>
            </a:r>
            <a:endParaRPr sz="3600" b="1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 txBox="1"/>
          <p:nvPr/>
        </p:nvSpPr>
        <p:spPr>
          <a:xfrm>
            <a:off x="474655" y="6268720"/>
            <a:ext cx="969134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lang="ru-RU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/21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685799" y="1438274"/>
            <a:ext cx="987742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smtClean="0">
                <a:solidFill>
                  <a:srgbClr val="1F1F1F"/>
                </a:solidFill>
                <a:latin typeface="Google Sans Text"/>
              </a:rPr>
              <a:t>Метрика </a:t>
            </a:r>
            <a:r>
              <a:rPr lang="en-US" sz="2400" dirty="0" err="1" smtClean="0">
                <a:solidFill>
                  <a:srgbClr val="1F1F1F"/>
                </a:solidFill>
                <a:latin typeface="Google Sans Text"/>
              </a:rPr>
              <a:t>mapK</a:t>
            </a:r>
            <a:r>
              <a:rPr lang="ru-RU" sz="2400" dirty="0" smtClean="0">
                <a:solidFill>
                  <a:srgbClr val="1F1F1F"/>
                </a:solidFill>
                <a:latin typeface="Google Sans Text"/>
              </a:rPr>
              <a:t> (</a:t>
            </a:r>
            <a:r>
              <a:rPr lang="en-US" sz="2400" dirty="0" smtClean="0">
                <a:solidFill>
                  <a:srgbClr val="1F1F1F"/>
                </a:solidFill>
                <a:latin typeface="Google Sans Text"/>
              </a:rPr>
              <a:t>k=10)</a:t>
            </a:r>
            <a:r>
              <a:rPr lang="ru-RU" sz="2400" dirty="0" smtClean="0">
                <a:solidFill>
                  <a:srgbClr val="1F1F1F"/>
                </a:solidFill>
                <a:latin typeface="Google Sans Text"/>
              </a:rPr>
              <a:t> для текущей работы</a:t>
            </a:r>
            <a:r>
              <a:rPr lang="en-US" sz="2400" dirty="0" smtClean="0">
                <a:solidFill>
                  <a:srgbClr val="1F1F1F"/>
                </a:solidFill>
                <a:latin typeface="Google Sans Text"/>
              </a:rPr>
              <a:t> </a:t>
            </a:r>
            <a:r>
              <a:rPr lang="ru-RU" sz="2400" dirty="0" smtClean="0">
                <a:solidFill>
                  <a:srgbClr val="1F1F1F"/>
                </a:solidFill>
                <a:latin typeface="Google Sans Text"/>
              </a:rPr>
              <a:t>показала лучший результат среди всех рассмотренных алгоритмов </a:t>
            </a: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3850962"/>
              </p:ext>
            </p:extLst>
          </p:nvPr>
        </p:nvGraphicFramePr>
        <p:xfrm>
          <a:off x="1711960" y="2389917"/>
          <a:ext cx="8128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5757753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607752032"/>
                    </a:ext>
                  </a:extLst>
                </a:gridCol>
              </a:tblGrid>
              <a:tr h="350718">
                <a:tc>
                  <a:txBody>
                    <a:bodyPr/>
                    <a:lstStyle/>
                    <a:p>
                      <a:r>
                        <a:rPr lang="ru-RU" dirty="0" smtClean="0"/>
                        <a:t>название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Метрика, %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3192454"/>
                  </a:ext>
                </a:extLst>
              </a:tr>
              <a:tr h="350718">
                <a:tc>
                  <a:txBody>
                    <a:bodyPr/>
                    <a:lstStyle/>
                    <a:p>
                      <a:r>
                        <a:rPr lang="en-US" dirty="0" smtClean="0"/>
                        <a:t>Random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0.04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399481"/>
                  </a:ext>
                </a:extLst>
              </a:tr>
              <a:tr h="350718">
                <a:tc>
                  <a:txBody>
                    <a:bodyPr/>
                    <a:lstStyle/>
                    <a:p>
                      <a:r>
                        <a:rPr lang="en-US" dirty="0" smtClean="0"/>
                        <a:t>Popular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0.03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3525025"/>
                  </a:ext>
                </a:extLst>
              </a:tr>
              <a:tr h="350718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ItemKNN</a:t>
                      </a:r>
                      <a:r>
                        <a:rPr lang="en-US" dirty="0" smtClean="0"/>
                        <a:t>/</a:t>
                      </a:r>
                      <a:r>
                        <a:rPr lang="en-US" dirty="0" err="1" smtClean="0"/>
                        <a:t>userKNN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1.19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4429288"/>
                  </a:ext>
                </a:extLst>
              </a:tr>
              <a:tr h="350718">
                <a:tc>
                  <a:txBody>
                    <a:bodyPr/>
                    <a:lstStyle/>
                    <a:p>
                      <a:r>
                        <a:rPr lang="en-US" dirty="0" smtClean="0"/>
                        <a:t>ALS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0.15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3030179"/>
                  </a:ext>
                </a:extLst>
              </a:tr>
              <a:tr h="350718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LightFM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0.33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3470357"/>
                  </a:ext>
                </a:extLst>
              </a:tr>
              <a:tr h="350718">
                <a:tc>
                  <a:txBody>
                    <a:bodyPr/>
                    <a:lstStyle/>
                    <a:p>
                      <a:r>
                        <a:rPr lang="en-US" dirty="0" smtClean="0"/>
                        <a:t>Sequential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0.17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4100699"/>
                  </a:ext>
                </a:extLst>
              </a:tr>
              <a:tr h="350718">
                <a:tc>
                  <a:txBody>
                    <a:bodyPr/>
                    <a:lstStyle/>
                    <a:p>
                      <a:r>
                        <a:rPr lang="ru-RU" dirty="0" smtClean="0"/>
                        <a:t>ФП</a:t>
                      </a:r>
                      <a:r>
                        <a:rPr lang="en-US" dirty="0" smtClean="0"/>
                        <a:t>*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1.21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2700938"/>
                  </a:ext>
                </a:extLst>
              </a:tr>
            </a:tbl>
          </a:graphicData>
        </a:graphic>
      </p:graphicFrame>
      <p:sp>
        <p:nvSpPr>
          <p:cNvPr id="8" name="Прямоугольник 7"/>
          <p:cNvSpPr/>
          <p:nvPr/>
        </p:nvSpPr>
        <p:spPr>
          <a:xfrm>
            <a:off x="837247" y="5486941"/>
            <a:ext cx="98774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На 8529 людях </a:t>
            </a:r>
            <a:r>
              <a:rPr lang="ru-RU" dirty="0" err="1"/>
              <a:t>mapK</a:t>
            </a:r>
            <a:r>
              <a:rPr lang="ru-RU" dirty="0"/>
              <a:t> = 1.21%</a:t>
            </a:r>
            <a:endParaRPr lang="ru-RU" sz="2400" dirty="0" smtClean="0">
              <a:solidFill>
                <a:srgbClr val="1F1F1F"/>
              </a:solidFill>
              <a:latin typeface="Google Sans Text"/>
            </a:endParaRPr>
          </a:p>
        </p:txBody>
      </p:sp>
    </p:spTree>
    <p:extLst>
      <p:ext uri="{BB962C8B-B14F-4D97-AF65-F5344CB8AC3E}">
        <p14:creationId xmlns:p14="http://schemas.microsoft.com/office/powerpoint/2010/main" val="9153471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66750" y="384178"/>
            <a:ext cx="14401800" cy="933450"/>
          </a:xfrm>
          <a:prstGeom prst="rect">
            <a:avLst/>
          </a:prstGeom>
        </p:spPr>
      </p:pic>
      <p:sp>
        <p:nvSpPr>
          <p:cNvPr id="154" name="Google Shape;154;p9"/>
          <p:cNvSpPr txBox="1">
            <a:spLocks noGrp="1"/>
          </p:cNvSpPr>
          <p:nvPr>
            <p:ph type="title"/>
          </p:nvPr>
        </p:nvSpPr>
        <p:spPr>
          <a:xfrm>
            <a:off x="787401" y="1619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ru-RU" sz="3200" b="1" dirty="0" smtClean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Пути улучшений</a:t>
            </a:r>
            <a:endParaRPr sz="3600" b="1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 txBox="1"/>
          <p:nvPr/>
        </p:nvSpPr>
        <p:spPr>
          <a:xfrm>
            <a:off x="474655" y="6268720"/>
            <a:ext cx="969134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20/21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685799" y="1438274"/>
            <a:ext cx="987742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smtClean="0">
                <a:solidFill>
                  <a:srgbClr val="1F1F1F"/>
                </a:solidFill>
                <a:latin typeface="Google Sans Text"/>
              </a:rPr>
              <a:t>В сравнении </a:t>
            </a:r>
            <a:r>
              <a:rPr lang="en-US" sz="2400" dirty="0" smtClean="0">
                <a:solidFill>
                  <a:srgbClr val="1F1F1F"/>
                </a:solidFill>
                <a:latin typeface="Google Sans Text"/>
              </a:rPr>
              <a:t>items </a:t>
            </a:r>
            <a:r>
              <a:rPr lang="ru-RU" sz="2400" dirty="0" smtClean="0">
                <a:solidFill>
                  <a:srgbClr val="1F1F1F"/>
                </a:solidFill>
                <a:latin typeface="Google Sans Text"/>
              </a:rPr>
              <a:t>с </a:t>
            </a:r>
            <a:r>
              <a:rPr lang="en-US" sz="2400" dirty="0" smtClean="0">
                <a:solidFill>
                  <a:srgbClr val="1F1F1F"/>
                </a:solidFill>
                <a:latin typeface="Google Sans Text"/>
              </a:rPr>
              <a:t>items </a:t>
            </a:r>
            <a:r>
              <a:rPr lang="ru-RU" sz="2400" dirty="0" smtClean="0">
                <a:solidFill>
                  <a:srgbClr val="1F1F1F"/>
                </a:solidFill>
                <a:latin typeface="Google Sans Text"/>
              </a:rPr>
              <a:t>для столбиков с массивом применять коэффициент совпадений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smtClean="0">
                <a:solidFill>
                  <a:srgbClr val="1F1F1F"/>
                </a:solidFill>
                <a:latin typeface="Google Sans Text"/>
              </a:rPr>
              <a:t>Дополнить пропуски в столбике </a:t>
            </a:r>
            <a:r>
              <a:rPr lang="en-US" sz="2400" dirty="0" smtClean="0">
                <a:solidFill>
                  <a:srgbClr val="1F1F1F"/>
                </a:solidFill>
                <a:latin typeface="Google Sans Text"/>
              </a:rPr>
              <a:t>“</a:t>
            </a:r>
            <a:r>
              <a:rPr lang="ru-RU" sz="2400" dirty="0" smtClean="0">
                <a:solidFill>
                  <a:srgbClr val="1F1F1F"/>
                </a:solidFill>
                <a:latin typeface="Google Sans Text"/>
              </a:rPr>
              <a:t>ключевые слова</a:t>
            </a:r>
            <a:r>
              <a:rPr lang="en-US" sz="2400" dirty="0" smtClean="0">
                <a:solidFill>
                  <a:srgbClr val="1F1F1F"/>
                </a:solidFill>
                <a:latin typeface="Google Sans Text"/>
              </a:rPr>
              <a:t>”</a:t>
            </a:r>
            <a:r>
              <a:rPr lang="ru-RU" sz="2400" dirty="0" smtClean="0">
                <a:solidFill>
                  <a:srgbClr val="1F1F1F"/>
                </a:solidFill>
                <a:latin typeface="Google Sans Text"/>
              </a:rPr>
              <a:t> из описания и добавить к сравнению схожести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smtClean="0">
                <a:solidFill>
                  <a:srgbClr val="1F1F1F"/>
                </a:solidFill>
                <a:latin typeface="Google Sans Text"/>
              </a:rPr>
              <a:t>Учитывать отсортированный порядок пользователей после первой части алгоритма, чтобы их просмотренный фильмы были приоритетнее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 smtClean="0">
              <a:solidFill>
                <a:srgbClr val="1F1F1F"/>
              </a:solidFill>
              <a:latin typeface="Google Sans Text"/>
            </a:endParaRPr>
          </a:p>
        </p:txBody>
      </p:sp>
    </p:spTree>
    <p:extLst>
      <p:ext uri="{BB962C8B-B14F-4D97-AF65-F5344CB8AC3E}">
        <p14:creationId xmlns:p14="http://schemas.microsoft.com/office/powerpoint/2010/main" val="17029960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8"/>
          <p:cNvSpPr txBox="1"/>
          <p:nvPr/>
        </p:nvSpPr>
        <p:spPr>
          <a:xfrm>
            <a:off x="3216276" y="2751935"/>
            <a:ext cx="574674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 sz="4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Спасибо за внимание!</a:t>
            </a:r>
            <a:endParaRPr sz="4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763" y="-728663"/>
            <a:ext cx="1209675" cy="8315325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48937" y="38100"/>
            <a:ext cx="2085975" cy="14859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912" y="922497"/>
            <a:ext cx="3084195" cy="764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621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936</Words>
  <Application>Microsoft Office PowerPoint</Application>
  <PresentationFormat>Широкоэкранный</PresentationFormat>
  <Paragraphs>112</Paragraphs>
  <Slides>21</Slides>
  <Notes>20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Google Sans Text</vt:lpstr>
      <vt:lpstr>Times New Roman</vt:lpstr>
      <vt:lpstr>Тема Office</vt:lpstr>
      <vt:lpstr>Финальный проект рекомендательная система: </vt:lpstr>
      <vt:lpstr>Цель</vt:lpstr>
      <vt:lpstr>Задачи</vt:lpstr>
      <vt:lpstr>Подготовка и Анализ данных</vt:lpstr>
      <vt:lpstr>Подготовка данных Interactions</vt:lpstr>
      <vt:lpstr>Анализ данных Interactions</vt:lpstr>
      <vt:lpstr>Анализ данных Interactions</vt:lpstr>
      <vt:lpstr>Анализ данных Interactions</vt:lpstr>
      <vt:lpstr>Анализ данных Interactions</vt:lpstr>
      <vt:lpstr>Анализ данных Users флажок детского аккаунта</vt:lpstr>
      <vt:lpstr>Анализ данных Users флажок детского аккаунта</vt:lpstr>
      <vt:lpstr>Выбор моделей рекомендаций</vt:lpstr>
      <vt:lpstr>Описание алгоритма</vt:lpstr>
      <vt:lpstr>Описание алгоритма</vt:lpstr>
      <vt:lpstr>Описание 1й части алгоритма</vt:lpstr>
      <vt:lpstr>Описание 2й части алгоритма</vt:lpstr>
      <vt:lpstr>Примеры рекомендаций</vt:lpstr>
      <vt:lpstr>Анализ рекомендаций</vt:lpstr>
      <vt:lpstr>Анализ Метрик</vt:lpstr>
      <vt:lpstr>Пути улучшений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Финальный проект рекомендательная система: </dc:title>
  <dc:creator>Yura Sannikov</dc:creator>
  <cp:lastModifiedBy>Yura Sannikov</cp:lastModifiedBy>
  <cp:revision>15</cp:revision>
  <dcterms:created xsi:type="dcterms:W3CDTF">2025-11-09T12:00:26Z</dcterms:created>
  <dcterms:modified xsi:type="dcterms:W3CDTF">2025-11-09T13:36:59Z</dcterms:modified>
</cp:coreProperties>
</file>